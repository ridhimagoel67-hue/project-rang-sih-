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Calibri (MS)" charset="1" panose="020F0502020204030204"/>
      <p:regular r:id="rId20"/>
    </p:embeddedFont>
    <p:embeddedFont>
      <p:font typeface="Agrandir" charset="1" panose="00000500000000000000"/>
      <p:regular r:id="rId21"/>
    </p:embeddedFont>
    <p:embeddedFont>
      <p:font typeface="DM Sans Bold" charset="1" panose="00000000000000000000"/>
      <p:regular r:id="rId22"/>
    </p:embeddedFont>
    <p:embeddedFont>
      <p:font typeface="Agrandir Bold" charset="1" panose="00000800000000000000"/>
      <p:regular r:id="rId23"/>
    </p:embeddedFont>
    <p:embeddedFont>
      <p:font typeface="Mina Bold" charset="1" panose="02000803000000000000"/>
      <p:regular r:id="rId24"/>
    </p:embeddedFont>
    <p:embeddedFont>
      <p:font typeface="Mina" charset="1" panose="02000503000000000000"/>
      <p:regular r:id="rId26"/>
    </p:embeddedFont>
    <p:embeddedFont>
      <p:font typeface="Cooper BT Bold" charset="1" panose="0208080404030B020404"/>
      <p:regular r:id="rId27"/>
    </p:embeddedFont>
    <p:embeddedFont>
      <p:font typeface="Times New Roman MT Bold" charset="1" panose="02030802070405020303"/>
      <p:regular r:id="rId29"/>
    </p:embeddedFont>
    <p:embeddedFont>
      <p:font typeface="Biski Bold" charset="1" panose="00000000000000000000"/>
      <p:regular r:id="rId30"/>
    </p:embeddedFont>
    <p:embeddedFont>
      <p:font typeface="Biski Light" charset="1" panose="00000000000000000000"/>
      <p:regular r:id="rId31"/>
    </p:embeddedFont>
    <p:embeddedFont>
      <p:font typeface="Aileron" charset="1" panose="00000500000000000000"/>
      <p:regular r:id="rId32"/>
    </p:embeddedFont>
    <p:embeddedFont>
      <p:font typeface="Aileron Bold" charset="1" panose="00000800000000000000"/>
      <p:regular r:id="rId33"/>
    </p:embeddedFont>
    <p:embeddedFont>
      <p:font typeface="Atkinson Hyperlegible Bold" charset="1" panose="00000000000000000000"/>
      <p:regular r:id="rId34"/>
    </p:embeddedFont>
    <p:embeddedFont>
      <p:font typeface="Biski" charset="1" panose="00000000000000000000"/>
      <p:regular r:id="rId35"/>
    </p:embeddedFont>
    <p:embeddedFont>
      <p:font typeface="Archivo Black" charset="1" panose="020B0A03020202020B04"/>
      <p:regular r:id="rId36"/>
    </p:embeddedFont>
    <p:embeddedFont>
      <p:font typeface="Carter One" charset="1" panose="03080802040405060005"/>
      <p:regular r:id="rId37"/>
    </p:embeddedFont>
    <p:embeddedFont>
      <p:font typeface="Montserrat" charset="1" panose="000005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4.jpeg" Type="http://schemas.openxmlformats.org/officeDocument/2006/relationships/image"/><Relationship Id="rId8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ndjst.org/articles/banana-peel-and-potato-as-a-biodegradable-plastic%20%20https:/www.sciencedirect.com/science/article/pii/S2666893923000877%20https:/www.sciencedirect.com/science/article/pii/S2949750725000422%20https:/www.mdpi.com/2073-4360/13/15/2532%20https:/www.mdpi.com/2813-0391/3/4/37%20https:/ajbs.scione.com/cms/fulltext.php?id=1160%20https://www.scribd.com/document/420810906/Bioplastic-docx%20https://www.ijirset.com/upload/2020/july/141_PRODUCTION_NC.PDF%20https://share.google/fKnPHKXQkVJHH39Fv%20https://www.vegetosindia.org/article/development-of-food-carrying-bio-plastic-film-from-banana-peels-starch-incorporated-with-sugarcane-bagasse-cellulose" TargetMode="External" Type="http://schemas.openxmlformats.org/officeDocument/2006/relationships/hyperlink"/><Relationship Id="rId11" Target="https://www.ijirset.com/upload/2020/july/141_PRODUCTION_NC.PDF" TargetMode="External" Type="http://schemas.openxmlformats.org/officeDocument/2006/relationships/hyperlink"/><Relationship Id="rId12" Target="https://share.google/fKnPHKXQkVJHH39Fv" TargetMode="External" Type="http://schemas.openxmlformats.org/officeDocument/2006/relationships/hyperlink"/><Relationship Id="rId13" Target="https://ajbs.scione.com/cms/fulltext.php?id=1160" TargetMode="External" Type="http://schemas.openxmlformats.org/officeDocument/2006/relationships/hyperlink"/><Relationship Id="rId14" Target="https://www.scribd.com/document/420810906/Bioplastic-docx" TargetMode="External" Type="http://schemas.openxmlformats.org/officeDocument/2006/relationships/hyperlink"/><Relationship Id="rId15" Target="https://www.vegetosindia.org/article/development-of-food-carrying-bio-plastic-film-from-banana-peels-starch-incorporated-with-sugarcane-bagasse-cellulose" TargetMode="External" Type="http://schemas.openxmlformats.org/officeDocument/2006/relationships/hyperlink"/><Relationship Id="rId16" Target="https://www.sciencedirect.com/science/article/pii/S2666893923000877" TargetMode="External" Type="http://schemas.openxmlformats.org/officeDocument/2006/relationships/hyperlink"/><Relationship Id="rId17" Target="https://www.sciencedirect.com/science/article/pii/S2949750725000422" TargetMode="External" Type="http://schemas.openxmlformats.org/officeDocument/2006/relationships/hyperlink"/><Relationship Id="rId18" Target="https://www.mdpi.com/2073-4360/13/15/2532" TargetMode="External" Type="http://schemas.openxmlformats.org/officeDocument/2006/relationships/hyperlink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https://indjst.org/articles/banana-peel-and-potato-as-a-biodegradable-plastic%20%20https:/www.sciencedirect.com/science/article/pii/S2666893923000877%20https:/www.sciencedirect.com/science/article/pii/S2949750725000422%20https:/www.mdpi.com/2073-4360/13/15/2532%20https:/www.mdpi.com/2813-0391/3/4/37%20https:/ajbs.scione.com/cms/fulltext.php?id=1160%20https://www.scribd.com/document/420810906/Bioplastic-docx%20https://www.ijirset.com/upload/2020/july/141_PRODUCTION_NC.PDF%20https://share.google/fKnPHKXQkVJHH39Fv%20https://www.vegetosindia.org/article/development-of-food-carrying-bio-plastic-film-from-banana-peels-starch-incorporated-with-sugarcane-bagasse-cellulos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60978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36462" y="2573822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258797"/>
            <a:ext cx="10282333" cy="655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716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SIH26214</a:t>
            </a:r>
          </a:p>
          <a:p>
            <a:pPr algn="just" marL="651510" indent="-325755" lvl="1">
              <a:lnSpc>
                <a:spcPts val="716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Title-Student Innovation</a:t>
            </a:r>
          </a:p>
          <a:p>
            <a:pPr algn="just" marL="651510" indent="-325755" lvl="1">
              <a:lnSpc>
                <a:spcPts val="648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Theme-Agriculture, FoodTech &amp; Rural Development </a:t>
            </a:r>
          </a:p>
          <a:p>
            <a:pPr algn="just" marL="651510" indent="-325755" lvl="1">
              <a:lnSpc>
                <a:spcPts val="716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Hardware</a:t>
            </a:r>
          </a:p>
          <a:p>
            <a:pPr algn="just" marL="651510" indent="-325755" lvl="1">
              <a:lnSpc>
                <a:spcPts val="716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651510" indent="-325755" lvl="1">
              <a:lnSpc>
                <a:spcPts val="7164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RANG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1" id="11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-706325"/>
            <a:ext cx="16459200" cy="1901168"/>
            <a:chOff x="0" y="0"/>
            <a:chExt cx="21945600" cy="2534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PROJECT RANG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71302" y="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4501" y="1901031"/>
            <a:ext cx="3840203" cy="2511247"/>
            <a:chOff x="0" y="0"/>
            <a:chExt cx="1018559" cy="666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8559" cy="666072"/>
            </a:xfrm>
            <a:custGeom>
              <a:avLst/>
              <a:gdLst/>
              <a:ahLst/>
              <a:cxnLst/>
              <a:rect r="r" b="b" t="t" l="l"/>
              <a:pathLst>
                <a:path h="666072" w="1018559">
                  <a:moveTo>
                    <a:pt x="34272" y="0"/>
                  </a:moveTo>
                  <a:lnTo>
                    <a:pt x="984286" y="0"/>
                  </a:lnTo>
                  <a:cubicBezTo>
                    <a:pt x="993376" y="0"/>
                    <a:pt x="1002093" y="3611"/>
                    <a:pt x="1008521" y="10038"/>
                  </a:cubicBezTo>
                  <a:cubicBezTo>
                    <a:pt x="1014948" y="16465"/>
                    <a:pt x="1018559" y="25183"/>
                    <a:pt x="1018559" y="34272"/>
                  </a:cubicBezTo>
                  <a:lnTo>
                    <a:pt x="1018559" y="631800"/>
                  </a:lnTo>
                  <a:cubicBezTo>
                    <a:pt x="1018559" y="640890"/>
                    <a:pt x="1014948" y="649607"/>
                    <a:pt x="1008521" y="656034"/>
                  </a:cubicBezTo>
                  <a:cubicBezTo>
                    <a:pt x="1002093" y="662461"/>
                    <a:pt x="993376" y="666072"/>
                    <a:pt x="984286" y="666072"/>
                  </a:cubicBezTo>
                  <a:lnTo>
                    <a:pt x="34272" y="666072"/>
                  </a:lnTo>
                  <a:cubicBezTo>
                    <a:pt x="25183" y="666072"/>
                    <a:pt x="16465" y="662461"/>
                    <a:pt x="10038" y="656034"/>
                  </a:cubicBezTo>
                  <a:cubicBezTo>
                    <a:pt x="3611" y="649607"/>
                    <a:pt x="0" y="640890"/>
                    <a:pt x="0" y="631800"/>
                  </a:cubicBezTo>
                  <a:lnTo>
                    <a:pt x="0" y="34272"/>
                  </a:lnTo>
                  <a:cubicBezTo>
                    <a:pt x="0" y="25183"/>
                    <a:pt x="3611" y="16465"/>
                    <a:pt x="10038" y="10038"/>
                  </a:cubicBezTo>
                  <a:cubicBezTo>
                    <a:pt x="16465" y="3611"/>
                    <a:pt x="25183" y="0"/>
                    <a:pt x="34272" y="0"/>
                  </a:cubicBezTo>
                  <a:close/>
                </a:path>
              </a:pathLst>
            </a:custGeom>
            <a:solidFill>
              <a:srgbClr val="7B624F">
                <a:alpha val="9098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018559" cy="72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4"/>
                </a:lnSpc>
              </a:pPr>
              <a:r>
                <a:rPr lang="en-US" sz="1893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Artisan Marginalization</a:t>
              </a:r>
            </a:p>
            <a:p>
              <a:pPr algn="ctr">
                <a:lnSpc>
                  <a:spcPts val="2354"/>
                </a:lnSpc>
              </a:pPr>
            </a:p>
            <a:p>
              <a:pPr algn="ctr">
                <a:lnSpc>
                  <a:spcPts val="2354"/>
                </a:lnSpc>
              </a:pPr>
              <a:r>
                <a:rPr lang="en-US" sz="1893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 Rural women have skills but lack access to high-end, modern global markets.skills but lack access to high-end, modern global markets.</a:t>
              </a:r>
            </a:p>
            <a:p>
              <a:pPr algn="ctr">
                <a:lnSpc>
                  <a:spcPts val="235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76531" y="4513982"/>
            <a:ext cx="3838173" cy="2511247"/>
            <a:chOff x="0" y="0"/>
            <a:chExt cx="1018020" cy="6660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18020" cy="666072"/>
            </a:xfrm>
            <a:custGeom>
              <a:avLst/>
              <a:gdLst/>
              <a:ahLst/>
              <a:cxnLst/>
              <a:rect r="r" b="b" t="t" l="l"/>
              <a:pathLst>
                <a:path h="666072" w="1018020">
                  <a:moveTo>
                    <a:pt x="34290" y="0"/>
                  </a:moveTo>
                  <a:lnTo>
                    <a:pt x="983730" y="0"/>
                  </a:lnTo>
                  <a:cubicBezTo>
                    <a:pt x="1002668" y="0"/>
                    <a:pt x="1018020" y="15352"/>
                    <a:pt x="1018020" y="34290"/>
                  </a:cubicBezTo>
                  <a:lnTo>
                    <a:pt x="1018020" y="631782"/>
                  </a:lnTo>
                  <a:cubicBezTo>
                    <a:pt x="1018020" y="640876"/>
                    <a:pt x="1014408" y="649598"/>
                    <a:pt x="1007977" y="656029"/>
                  </a:cubicBezTo>
                  <a:cubicBezTo>
                    <a:pt x="1001546" y="662460"/>
                    <a:pt x="992824" y="666072"/>
                    <a:pt x="983730" y="666072"/>
                  </a:cubicBezTo>
                  <a:lnTo>
                    <a:pt x="34290" y="666072"/>
                  </a:lnTo>
                  <a:cubicBezTo>
                    <a:pt x="25196" y="666072"/>
                    <a:pt x="16474" y="662460"/>
                    <a:pt x="10043" y="656029"/>
                  </a:cubicBezTo>
                  <a:cubicBezTo>
                    <a:pt x="3613" y="649598"/>
                    <a:pt x="0" y="640876"/>
                    <a:pt x="0" y="631782"/>
                  </a:cubicBezTo>
                  <a:lnTo>
                    <a:pt x="0" y="34290"/>
                  </a:lnTo>
                  <a:cubicBezTo>
                    <a:pt x="0" y="25196"/>
                    <a:pt x="3613" y="16474"/>
                    <a:pt x="10043" y="10043"/>
                  </a:cubicBezTo>
                  <a:cubicBezTo>
                    <a:pt x="16474" y="3613"/>
                    <a:pt x="25196" y="0"/>
                    <a:pt x="34290" y="0"/>
                  </a:cubicBezTo>
                  <a:close/>
                </a:path>
              </a:pathLst>
            </a:custGeom>
            <a:solidFill>
              <a:srgbClr val="B59D8B">
                <a:alpha val="9098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18020" cy="723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4"/>
                </a:lnSpc>
              </a:pPr>
              <a:r>
                <a:rPr lang="en-US" sz="1893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The Market Gap</a:t>
              </a:r>
            </a:p>
            <a:p>
              <a:pPr algn="ctr">
                <a:lnSpc>
                  <a:spcPts val="2354"/>
                </a:lnSpc>
              </a:pPr>
            </a:p>
            <a:p>
              <a:pPr algn="ctr">
                <a:lnSpc>
                  <a:spcPts val="2354"/>
                </a:lnSpc>
              </a:pPr>
              <a:r>
                <a:rPr lang="en-US" sz="1893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 Conscious consumers are stuck between overpriced luxury and low-quality mass production, with no affordable ethical alternative.</a:t>
              </a:r>
            </a:p>
            <a:p>
              <a:pPr algn="ctr">
                <a:lnSpc>
                  <a:spcPts val="235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6531" y="7126932"/>
            <a:ext cx="3838173" cy="2383822"/>
            <a:chOff x="0" y="0"/>
            <a:chExt cx="1018020" cy="6322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8020" cy="632275"/>
            </a:xfrm>
            <a:custGeom>
              <a:avLst/>
              <a:gdLst/>
              <a:ahLst/>
              <a:cxnLst/>
              <a:rect r="r" b="b" t="t" l="l"/>
              <a:pathLst>
                <a:path h="632275" w="1018020">
                  <a:moveTo>
                    <a:pt x="34290" y="0"/>
                  </a:moveTo>
                  <a:lnTo>
                    <a:pt x="983730" y="0"/>
                  </a:lnTo>
                  <a:cubicBezTo>
                    <a:pt x="1002668" y="0"/>
                    <a:pt x="1018020" y="15352"/>
                    <a:pt x="1018020" y="34290"/>
                  </a:cubicBezTo>
                  <a:lnTo>
                    <a:pt x="1018020" y="597984"/>
                  </a:lnTo>
                  <a:cubicBezTo>
                    <a:pt x="1018020" y="607079"/>
                    <a:pt x="1014408" y="615800"/>
                    <a:pt x="1007977" y="622231"/>
                  </a:cubicBezTo>
                  <a:cubicBezTo>
                    <a:pt x="1001546" y="628662"/>
                    <a:pt x="992824" y="632275"/>
                    <a:pt x="983730" y="632275"/>
                  </a:cubicBezTo>
                  <a:lnTo>
                    <a:pt x="34290" y="632275"/>
                  </a:lnTo>
                  <a:cubicBezTo>
                    <a:pt x="25196" y="632275"/>
                    <a:pt x="16474" y="628662"/>
                    <a:pt x="10043" y="622231"/>
                  </a:cubicBezTo>
                  <a:cubicBezTo>
                    <a:pt x="3613" y="615800"/>
                    <a:pt x="0" y="607079"/>
                    <a:pt x="0" y="597984"/>
                  </a:cubicBezTo>
                  <a:lnTo>
                    <a:pt x="0" y="34290"/>
                  </a:lnTo>
                  <a:cubicBezTo>
                    <a:pt x="0" y="25196"/>
                    <a:pt x="3613" y="16474"/>
                    <a:pt x="10043" y="10043"/>
                  </a:cubicBezTo>
                  <a:cubicBezTo>
                    <a:pt x="16474" y="3613"/>
                    <a:pt x="25196" y="0"/>
                    <a:pt x="34290" y="0"/>
                  </a:cubicBezTo>
                  <a:close/>
                </a:path>
              </a:pathLst>
            </a:custGeom>
            <a:solidFill>
              <a:srgbClr val="C3AF94">
                <a:alpha val="9098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18020" cy="68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54"/>
                </a:lnSpc>
                <a:spcBef>
                  <a:spcPct val="0"/>
                </a:spcBef>
              </a:pPr>
              <a:r>
                <a:rPr lang="en-US" sz="1893" strike="noStrike" u="none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Environment </a:t>
              </a:r>
            </a:p>
            <a:p>
              <a:pPr algn="ctr" marL="0" indent="0" lvl="0">
                <a:lnSpc>
                  <a:spcPts val="2354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54"/>
                </a:lnSpc>
                <a:spcBef>
                  <a:spcPct val="0"/>
                </a:spcBef>
              </a:pPr>
              <a:r>
                <a:rPr lang="en-US" sz="1893" strike="noStrike" u="none">
                  <a:solidFill>
                    <a:srgbClr val="FFFFFF">
                      <a:alpha val="90980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Traditional cotton is water-intensive and the industry needs a sustainable alternative.</a:t>
              </a:r>
            </a:p>
            <a:p>
              <a:pPr algn="ctr" marL="0" indent="0" lvl="0">
                <a:lnSpc>
                  <a:spcPts val="235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12885" y="1835853"/>
            <a:ext cx="4962415" cy="2431594"/>
            <a:chOff x="0" y="0"/>
            <a:chExt cx="1257110" cy="6160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7110" cy="616013"/>
            </a:xfrm>
            <a:custGeom>
              <a:avLst/>
              <a:gdLst/>
              <a:ahLst/>
              <a:cxnLst/>
              <a:rect r="r" b="b" t="t" l="l"/>
              <a:pathLst>
                <a:path h="616013" w="1257110">
                  <a:moveTo>
                    <a:pt x="1257110" y="93607"/>
                  </a:moveTo>
                  <a:lnTo>
                    <a:pt x="1257110" y="522406"/>
                  </a:lnTo>
                  <a:cubicBezTo>
                    <a:pt x="1257110" y="547232"/>
                    <a:pt x="1247248" y="571041"/>
                    <a:pt x="1229693" y="588596"/>
                  </a:cubicBezTo>
                  <a:cubicBezTo>
                    <a:pt x="1212138" y="606151"/>
                    <a:pt x="1188329" y="616013"/>
                    <a:pt x="1163503" y="616013"/>
                  </a:cubicBezTo>
                  <a:lnTo>
                    <a:pt x="93607" y="616013"/>
                  </a:lnTo>
                  <a:cubicBezTo>
                    <a:pt x="68781" y="616013"/>
                    <a:pt x="44971" y="606151"/>
                    <a:pt x="27417" y="588596"/>
                  </a:cubicBezTo>
                  <a:cubicBezTo>
                    <a:pt x="9862" y="571041"/>
                    <a:pt x="0" y="547232"/>
                    <a:pt x="0" y="522406"/>
                  </a:cubicBezTo>
                  <a:lnTo>
                    <a:pt x="0" y="93607"/>
                  </a:lnTo>
                  <a:cubicBezTo>
                    <a:pt x="0" y="68781"/>
                    <a:pt x="9862" y="44971"/>
                    <a:pt x="27417" y="27417"/>
                  </a:cubicBezTo>
                  <a:cubicBezTo>
                    <a:pt x="44971" y="9862"/>
                    <a:pt x="68781" y="0"/>
                    <a:pt x="93607" y="0"/>
                  </a:cubicBezTo>
                  <a:lnTo>
                    <a:pt x="1163503" y="0"/>
                  </a:lnTo>
                  <a:cubicBezTo>
                    <a:pt x="1188329" y="0"/>
                    <a:pt x="1212138" y="9862"/>
                    <a:pt x="1229693" y="27417"/>
                  </a:cubicBezTo>
                  <a:cubicBezTo>
                    <a:pt x="1247248" y="44971"/>
                    <a:pt x="1257110" y="68781"/>
                    <a:pt x="1257110" y="93607"/>
                  </a:cubicBezTo>
                  <a:close/>
                </a:path>
              </a:pathLst>
            </a:custGeom>
            <a:ln w="38100" cap="rnd">
              <a:solidFill>
                <a:srgbClr val="545454">
                  <a:alpha val="84706"/>
                </a:srgbClr>
              </a:solidFill>
              <a:prstDash val="sysDot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257110" cy="673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80"/>
                </a:lnSpc>
              </a:pPr>
              <a:r>
                <a:rPr lang="en-US" sz="2032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Economic Empowerment (The "Who") </a:t>
              </a:r>
            </a:p>
            <a:p>
              <a:pPr algn="ctr">
                <a:lnSpc>
                  <a:spcPts val="2480"/>
                </a:lnSpc>
              </a:pPr>
            </a:p>
            <a:p>
              <a:pPr algn="ctr">
                <a:lnSpc>
                  <a:spcPts val="2358"/>
                </a:lnSpc>
              </a:pPr>
              <a:r>
                <a:rPr lang="en-US" sz="1932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Transforming homemakers into entrepreneurs by upskilling them in design and financial literacy, turning "latent talent" into a steady income stream.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412885" y="4530056"/>
            <a:ext cx="4962415" cy="2360902"/>
            <a:chOff x="0" y="0"/>
            <a:chExt cx="1257110" cy="5981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7110" cy="598104"/>
            </a:xfrm>
            <a:custGeom>
              <a:avLst/>
              <a:gdLst/>
              <a:ahLst/>
              <a:cxnLst/>
              <a:rect r="r" b="b" t="t" l="l"/>
              <a:pathLst>
                <a:path h="598104" w="1257110">
                  <a:moveTo>
                    <a:pt x="1257110" y="93607"/>
                  </a:moveTo>
                  <a:lnTo>
                    <a:pt x="1257110" y="504497"/>
                  </a:lnTo>
                  <a:cubicBezTo>
                    <a:pt x="1257110" y="529323"/>
                    <a:pt x="1247248" y="553132"/>
                    <a:pt x="1229693" y="570687"/>
                  </a:cubicBezTo>
                  <a:cubicBezTo>
                    <a:pt x="1212138" y="588242"/>
                    <a:pt x="1188329" y="598104"/>
                    <a:pt x="1163503" y="598104"/>
                  </a:cubicBezTo>
                  <a:lnTo>
                    <a:pt x="93607" y="598104"/>
                  </a:lnTo>
                  <a:cubicBezTo>
                    <a:pt x="68781" y="598104"/>
                    <a:pt x="44971" y="588242"/>
                    <a:pt x="27417" y="570687"/>
                  </a:cubicBezTo>
                  <a:cubicBezTo>
                    <a:pt x="9862" y="553132"/>
                    <a:pt x="0" y="529323"/>
                    <a:pt x="0" y="504497"/>
                  </a:cubicBezTo>
                  <a:lnTo>
                    <a:pt x="0" y="93607"/>
                  </a:lnTo>
                  <a:cubicBezTo>
                    <a:pt x="0" y="68781"/>
                    <a:pt x="9862" y="44971"/>
                    <a:pt x="27417" y="27417"/>
                  </a:cubicBezTo>
                  <a:cubicBezTo>
                    <a:pt x="44971" y="9862"/>
                    <a:pt x="68781" y="0"/>
                    <a:pt x="93607" y="0"/>
                  </a:cubicBezTo>
                  <a:lnTo>
                    <a:pt x="1163503" y="0"/>
                  </a:lnTo>
                  <a:cubicBezTo>
                    <a:pt x="1188329" y="0"/>
                    <a:pt x="1212138" y="9862"/>
                    <a:pt x="1229693" y="27417"/>
                  </a:cubicBezTo>
                  <a:cubicBezTo>
                    <a:pt x="1247248" y="44971"/>
                    <a:pt x="1257110" y="68781"/>
                    <a:pt x="1257110" y="93607"/>
                  </a:cubicBezTo>
                  <a:close/>
                </a:path>
              </a:pathLst>
            </a:custGeom>
            <a:ln w="38100" cap="rnd">
              <a:solidFill>
                <a:srgbClr val="545454">
                  <a:alpha val="84706"/>
                </a:srgbClr>
              </a:solidFill>
              <a:prstDash val="sysDot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57110" cy="655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80"/>
                </a:lnSpc>
                <a:spcBef>
                  <a:spcPct val="0"/>
                </a:spcBef>
              </a:pPr>
              <a:r>
                <a:rPr lang="en-US" sz="2032" strike="noStrike" u="none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Affordable Sustainability (The "Why") </a:t>
              </a:r>
            </a:p>
            <a:p>
              <a:pPr algn="ctr" marL="0" indent="0" lvl="0">
                <a:lnSpc>
                  <a:spcPts val="248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2358"/>
                </a:lnSpc>
                <a:spcBef>
                  <a:spcPct val="0"/>
                </a:spcBef>
              </a:pPr>
              <a:r>
                <a:rPr lang="en-US" sz="1932" strike="noStrike" u="none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Bridging the market gap by offering eco-friendly, hand-painted products at competitive prices, making ethical fashion accessible to everyone.</a:t>
              </a:r>
            </a:p>
            <a:p>
              <a:pPr algn="ctr" marL="0" indent="0" lvl="0">
                <a:lnSpc>
                  <a:spcPts val="2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12885" y="7153566"/>
            <a:ext cx="4962415" cy="2330555"/>
            <a:chOff x="0" y="0"/>
            <a:chExt cx="1257110" cy="5904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7110" cy="590416"/>
            </a:xfrm>
            <a:custGeom>
              <a:avLst/>
              <a:gdLst/>
              <a:ahLst/>
              <a:cxnLst/>
              <a:rect r="r" b="b" t="t" l="l"/>
              <a:pathLst>
                <a:path h="590416" w="1257110">
                  <a:moveTo>
                    <a:pt x="1257110" y="93607"/>
                  </a:moveTo>
                  <a:lnTo>
                    <a:pt x="1257110" y="496809"/>
                  </a:lnTo>
                  <a:cubicBezTo>
                    <a:pt x="1257110" y="521635"/>
                    <a:pt x="1247248" y="545445"/>
                    <a:pt x="1229693" y="562999"/>
                  </a:cubicBezTo>
                  <a:cubicBezTo>
                    <a:pt x="1212138" y="580554"/>
                    <a:pt x="1188329" y="590416"/>
                    <a:pt x="1163503" y="590416"/>
                  </a:cubicBezTo>
                  <a:lnTo>
                    <a:pt x="93607" y="590416"/>
                  </a:lnTo>
                  <a:cubicBezTo>
                    <a:pt x="68781" y="590416"/>
                    <a:pt x="44971" y="580554"/>
                    <a:pt x="27417" y="562999"/>
                  </a:cubicBezTo>
                  <a:cubicBezTo>
                    <a:pt x="9862" y="545445"/>
                    <a:pt x="0" y="521635"/>
                    <a:pt x="0" y="496809"/>
                  </a:cubicBezTo>
                  <a:lnTo>
                    <a:pt x="0" y="93607"/>
                  </a:lnTo>
                  <a:cubicBezTo>
                    <a:pt x="0" y="68781"/>
                    <a:pt x="9862" y="44971"/>
                    <a:pt x="27417" y="27417"/>
                  </a:cubicBezTo>
                  <a:cubicBezTo>
                    <a:pt x="44971" y="9862"/>
                    <a:pt x="68781" y="0"/>
                    <a:pt x="93607" y="0"/>
                  </a:cubicBezTo>
                  <a:lnTo>
                    <a:pt x="1163503" y="0"/>
                  </a:lnTo>
                  <a:cubicBezTo>
                    <a:pt x="1188329" y="0"/>
                    <a:pt x="1212138" y="9862"/>
                    <a:pt x="1229693" y="27417"/>
                  </a:cubicBezTo>
                  <a:cubicBezTo>
                    <a:pt x="1247248" y="44971"/>
                    <a:pt x="1257110" y="68781"/>
                    <a:pt x="1257110" y="93607"/>
                  </a:cubicBezTo>
                  <a:close/>
                </a:path>
              </a:pathLst>
            </a:custGeom>
            <a:ln w="38100" cap="rnd">
              <a:solidFill>
                <a:srgbClr val="545454">
                  <a:alpha val="84706"/>
                </a:srgbClr>
              </a:solidFill>
              <a:prstDash val="sysDot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257110" cy="647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8"/>
                </a:lnSpc>
              </a:pPr>
              <a:r>
                <a:rPr lang="en-US" sz="1932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Direct Market Linkage (The "How")</a:t>
              </a:r>
              <a:r>
                <a:rPr lang="en-US" sz="1932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</a:p>
            <a:p>
              <a:pPr algn="ctr">
                <a:lnSpc>
                  <a:spcPts val="2358"/>
                </a:lnSpc>
              </a:pPr>
            </a:p>
            <a:p>
              <a:pPr algn="ctr">
                <a:lnSpc>
                  <a:spcPts val="2358"/>
                </a:lnSpc>
              </a:pPr>
              <a:r>
                <a:rPr lang="en-US" sz="1932">
                  <a:solidFill>
                    <a:srgbClr val="000000">
                      <a:alpha val="84706"/>
                    </a:srgbClr>
                  </a:solidFill>
                  <a:latin typeface="Agrandir"/>
                  <a:ea typeface="Agrandir"/>
                  <a:cs typeface="Agrandir"/>
                  <a:sym typeface="Agrandir"/>
                </a:rPr>
                <a:t>Eliminating middlemen through a Direct-to-Consumer (D2C) model, ensuring that 60-70% of the profit margin goes directly back to the women artisans.</a:t>
              </a:r>
            </a:p>
            <a:p>
              <a:pPr algn="ctr" marL="0" indent="0" lvl="0">
                <a:lnSpc>
                  <a:spcPts val="235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996756" y="6890957"/>
            <a:ext cx="2078970" cy="2059845"/>
            <a:chOff x="0" y="0"/>
            <a:chExt cx="1066245" cy="10564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6245" cy="1056436"/>
            </a:xfrm>
            <a:custGeom>
              <a:avLst/>
              <a:gdLst/>
              <a:ahLst/>
              <a:cxnLst/>
              <a:rect r="r" b="b" t="t" l="l"/>
              <a:pathLst>
                <a:path h="1056436" w="1066245">
                  <a:moveTo>
                    <a:pt x="533122" y="0"/>
                  </a:moveTo>
                  <a:cubicBezTo>
                    <a:pt x="238687" y="0"/>
                    <a:pt x="0" y="236491"/>
                    <a:pt x="0" y="528218"/>
                  </a:cubicBezTo>
                  <a:cubicBezTo>
                    <a:pt x="0" y="819945"/>
                    <a:pt x="238687" y="1056436"/>
                    <a:pt x="533122" y="1056436"/>
                  </a:cubicBezTo>
                  <a:cubicBezTo>
                    <a:pt x="827558" y="1056436"/>
                    <a:pt x="1066245" y="819945"/>
                    <a:pt x="1066245" y="528218"/>
                  </a:cubicBezTo>
                  <a:cubicBezTo>
                    <a:pt x="1066245" y="236491"/>
                    <a:pt x="827558" y="0"/>
                    <a:pt x="533122" y="0"/>
                  </a:cubicBezTo>
                  <a:close/>
                </a:path>
              </a:pathLst>
            </a:custGeom>
            <a:solidFill>
              <a:srgbClr val="7B624F"/>
            </a:solidFill>
            <a:ln w="142875" cap="sq">
              <a:solidFill>
                <a:srgbClr val="C6B39C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99960" y="79991"/>
              <a:ext cx="866324" cy="877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8"/>
                </a:lnSpc>
              </a:pPr>
              <a:r>
                <a:rPr lang="en-US" b="true" sz="219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PAINT TO ORDER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51572" y="6920101"/>
            <a:ext cx="2099278" cy="2059845"/>
            <a:chOff x="0" y="0"/>
            <a:chExt cx="1076660" cy="10564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6660" cy="1056436"/>
            </a:xfrm>
            <a:custGeom>
              <a:avLst/>
              <a:gdLst/>
              <a:ahLst/>
              <a:cxnLst/>
              <a:rect r="r" b="b" t="t" l="l"/>
              <a:pathLst>
                <a:path h="1056436" w="1076660">
                  <a:moveTo>
                    <a:pt x="538330" y="0"/>
                  </a:moveTo>
                  <a:cubicBezTo>
                    <a:pt x="241019" y="0"/>
                    <a:pt x="0" y="236491"/>
                    <a:pt x="0" y="528218"/>
                  </a:cubicBezTo>
                  <a:cubicBezTo>
                    <a:pt x="0" y="819945"/>
                    <a:pt x="241019" y="1056436"/>
                    <a:pt x="538330" y="1056436"/>
                  </a:cubicBezTo>
                  <a:cubicBezTo>
                    <a:pt x="835642" y="1056436"/>
                    <a:pt x="1076660" y="819945"/>
                    <a:pt x="1076660" y="528218"/>
                  </a:cubicBezTo>
                  <a:cubicBezTo>
                    <a:pt x="1076660" y="236491"/>
                    <a:pt x="835642" y="0"/>
                    <a:pt x="538330" y="0"/>
                  </a:cubicBezTo>
                  <a:close/>
                </a:path>
              </a:pathLst>
            </a:custGeom>
            <a:solidFill>
              <a:srgbClr val="7B624F"/>
            </a:solidFill>
            <a:ln w="142875" cap="sq">
              <a:solidFill>
                <a:srgbClr val="C6B39C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100937" y="79991"/>
              <a:ext cx="874786" cy="877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8"/>
                </a:lnSpc>
              </a:pPr>
              <a:r>
                <a:rPr lang="en-US" b="true" sz="219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FAIR INCOME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91729" y="6920101"/>
            <a:ext cx="2113937" cy="2059845"/>
            <a:chOff x="0" y="0"/>
            <a:chExt cx="1084178" cy="10564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4178" cy="1056436"/>
            </a:xfrm>
            <a:custGeom>
              <a:avLst/>
              <a:gdLst/>
              <a:ahLst/>
              <a:cxnLst/>
              <a:rect r="r" b="b" t="t" l="l"/>
              <a:pathLst>
                <a:path h="1056436" w="1084178">
                  <a:moveTo>
                    <a:pt x="542089" y="0"/>
                  </a:moveTo>
                  <a:cubicBezTo>
                    <a:pt x="242702" y="0"/>
                    <a:pt x="0" y="236491"/>
                    <a:pt x="0" y="528218"/>
                  </a:cubicBezTo>
                  <a:cubicBezTo>
                    <a:pt x="0" y="819945"/>
                    <a:pt x="242702" y="1056436"/>
                    <a:pt x="542089" y="1056436"/>
                  </a:cubicBezTo>
                  <a:cubicBezTo>
                    <a:pt x="841477" y="1056436"/>
                    <a:pt x="1084178" y="819945"/>
                    <a:pt x="1084178" y="528218"/>
                  </a:cubicBezTo>
                  <a:cubicBezTo>
                    <a:pt x="1084178" y="236491"/>
                    <a:pt x="841477" y="0"/>
                    <a:pt x="542089" y="0"/>
                  </a:cubicBezTo>
                  <a:close/>
                </a:path>
              </a:pathLst>
            </a:custGeom>
            <a:solidFill>
              <a:srgbClr val="7B624F"/>
            </a:solidFill>
            <a:ln w="142875" cap="sq">
              <a:solidFill>
                <a:srgbClr val="C6B39C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101642" y="79991"/>
              <a:ext cx="880895" cy="877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8"/>
                </a:lnSpc>
              </a:pPr>
              <a:r>
                <a:rPr lang="en-US" b="true" sz="219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DIRECT CONNECT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-624688" y="1142829"/>
            <a:ext cx="5623754" cy="69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1"/>
              </a:lnSpc>
              <a:spcBef>
                <a:spcPct val="0"/>
              </a:spcBef>
            </a:pPr>
            <a:r>
              <a:rPr lang="en-US" b="true" sz="3444" strike="noStrike" u="none">
                <a:solidFill>
                  <a:srgbClr val="7B624F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928164" y="1142829"/>
            <a:ext cx="5623754" cy="69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21"/>
              </a:lnSpc>
              <a:spcBef>
                <a:spcPct val="0"/>
              </a:spcBef>
            </a:pPr>
            <a:r>
              <a:rPr lang="en-US" b="true" sz="3444">
                <a:solidFill>
                  <a:srgbClr val="7B624F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670575" y="2148944"/>
            <a:ext cx="3140607" cy="1672898"/>
            <a:chOff x="0" y="0"/>
            <a:chExt cx="1085666" cy="5782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666" cy="578299"/>
            </a:xfrm>
            <a:custGeom>
              <a:avLst/>
              <a:gdLst/>
              <a:ahLst/>
              <a:cxnLst/>
              <a:rect r="r" b="b" t="t" l="l"/>
              <a:pathLst>
                <a:path h="578299" w="1085666">
                  <a:moveTo>
                    <a:pt x="1085666" y="289149"/>
                  </a:moveTo>
                  <a:lnTo>
                    <a:pt x="679266" y="0"/>
                  </a:lnTo>
                  <a:lnTo>
                    <a:pt x="679266" y="203200"/>
                  </a:lnTo>
                  <a:lnTo>
                    <a:pt x="0" y="203200"/>
                  </a:lnTo>
                  <a:lnTo>
                    <a:pt x="0" y="375099"/>
                  </a:lnTo>
                  <a:lnTo>
                    <a:pt x="679266" y="375099"/>
                  </a:lnTo>
                  <a:lnTo>
                    <a:pt x="679266" y="578299"/>
                  </a:lnTo>
                  <a:lnTo>
                    <a:pt x="1085666" y="289149"/>
                  </a:lnTo>
                  <a:close/>
                </a:path>
              </a:pathLst>
            </a:custGeom>
            <a:solidFill>
              <a:srgbClr val="C3AF9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155575"/>
              <a:ext cx="984066" cy="219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10800000">
            <a:off x="14762045" y="4412278"/>
            <a:ext cx="3140607" cy="1626741"/>
            <a:chOff x="0" y="0"/>
            <a:chExt cx="1085666" cy="56234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5666" cy="562343"/>
            </a:xfrm>
            <a:custGeom>
              <a:avLst/>
              <a:gdLst/>
              <a:ahLst/>
              <a:cxnLst/>
              <a:rect r="r" b="b" t="t" l="l"/>
              <a:pathLst>
                <a:path h="562343" w="1085666">
                  <a:moveTo>
                    <a:pt x="1085666" y="281171"/>
                  </a:moveTo>
                  <a:lnTo>
                    <a:pt x="679266" y="0"/>
                  </a:lnTo>
                  <a:lnTo>
                    <a:pt x="679266" y="203200"/>
                  </a:lnTo>
                  <a:lnTo>
                    <a:pt x="0" y="203200"/>
                  </a:lnTo>
                  <a:lnTo>
                    <a:pt x="0" y="359143"/>
                  </a:lnTo>
                  <a:lnTo>
                    <a:pt x="679266" y="359143"/>
                  </a:lnTo>
                  <a:lnTo>
                    <a:pt x="679266" y="562343"/>
                  </a:lnTo>
                  <a:lnTo>
                    <a:pt x="1085666" y="281171"/>
                  </a:lnTo>
                  <a:close/>
                </a:path>
              </a:pathLst>
            </a:custGeom>
            <a:solidFill>
              <a:srgbClr val="C3AF94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155575"/>
              <a:ext cx="984066" cy="203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05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762970" y="2091794"/>
            <a:ext cx="4349571" cy="1987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</a:p>
          <a:p>
            <a:pPr algn="l" marL="390622" indent="-195311" lvl="1">
              <a:lnSpc>
                <a:spcPts val="2207"/>
              </a:lnSpc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Outsourced sustainable banana-fibre fabrics</a:t>
            </a:r>
          </a:p>
          <a:p>
            <a:pPr algn="l" marL="390622" indent="-195311" lvl="1">
              <a:lnSpc>
                <a:spcPts val="2207"/>
              </a:lnSpc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Low-risk, fast market entry</a:t>
            </a:r>
          </a:p>
          <a:p>
            <a:pPr algn="l" marL="390622" indent="-195311" lvl="1">
              <a:lnSpc>
                <a:spcPts val="2207"/>
              </a:lnSpc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Paint-to-order, low waste</a:t>
            </a:r>
          </a:p>
          <a:p>
            <a:pPr algn="l" marL="390622" indent="-195311" lvl="1">
              <a:lnSpc>
                <a:spcPts val="2207"/>
              </a:lnSpc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Fair &amp; direct payments to women</a:t>
            </a:r>
          </a:p>
          <a:p>
            <a:pPr algn="l" marL="390622" indent="-195311" lvl="1">
              <a:lnSpc>
                <a:spcPts val="2207"/>
              </a:lnSpc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Story tag with every product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70575" y="4355128"/>
            <a:ext cx="4899586" cy="20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623" indent="-195311" lvl="1">
              <a:lnSpc>
                <a:spcPts val="2207"/>
              </a:lnSpc>
              <a:spcBef>
                <a:spcPct val="0"/>
              </a:spcBef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Circular banana-based system</a:t>
            </a:r>
          </a:p>
          <a:p>
            <a:pPr algn="l" marL="390623" indent="-195311" lvl="1">
              <a:lnSpc>
                <a:spcPts val="2207"/>
              </a:lnSpc>
              <a:spcBef>
                <a:spcPct val="0"/>
              </a:spcBef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Banana pulp will be used to make biodegradable packaging</a:t>
            </a:r>
          </a:p>
          <a:p>
            <a:pPr algn="l" marL="390623" indent="-195311" lvl="1">
              <a:lnSpc>
                <a:spcPts val="2207"/>
              </a:lnSpc>
              <a:spcBef>
                <a:spcPct val="0"/>
              </a:spcBef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It is Plastic-free, low-cost packaging </a:t>
            </a:r>
          </a:p>
          <a:p>
            <a:pPr algn="l" marL="390623" indent="-195311" lvl="1">
              <a:lnSpc>
                <a:spcPts val="2207"/>
              </a:lnSpc>
              <a:spcBef>
                <a:spcPct val="0"/>
              </a:spcBef>
              <a:buFont typeface="Arial"/>
              <a:buChar char="•"/>
            </a:pPr>
            <a:r>
              <a:rPr lang="en-US" sz="1809" strike="noStrike" u="none">
                <a:solidFill>
                  <a:srgbClr val="000000">
                    <a:alpha val="84706"/>
                  </a:srgbClr>
                </a:solidFill>
                <a:latin typeface="Agrandir"/>
                <a:ea typeface="Agrandir"/>
                <a:cs typeface="Agrandir"/>
                <a:sym typeface="Agrandir"/>
              </a:rPr>
              <a:t>We will outsource the fabric making process and then extract pulp from the fibres to make the tags and packaging.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029700" y="2772225"/>
            <a:ext cx="3437995" cy="38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6"/>
              </a:lnSpc>
              <a:spcBef>
                <a:spcPct val="0"/>
              </a:spcBef>
            </a:pPr>
            <a:r>
              <a:rPr lang="en-US" b="true" sz="2340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Initial Stage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62045" y="5009742"/>
            <a:ext cx="3902400" cy="39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6"/>
              </a:lnSpc>
              <a:spcBef>
                <a:spcPct val="0"/>
              </a:spcBef>
            </a:pPr>
            <a:r>
              <a:rPr lang="en-US" b="true" sz="2340" strike="noStrike" u="none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Later Stage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0100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756" y="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74319" y="-217602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1244545"/>
            <a:ext cx="18390508" cy="9042455"/>
            <a:chOff x="0" y="0"/>
            <a:chExt cx="24520678" cy="120566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8628099" y="307237"/>
              <a:ext cx="5892578" cy="6654481"/>
            </a:xfrm>
            <a:custGeom>
              <a:avLst/>
              <a:gdLst/>
              <a:ahLst/>
              <a:cxnLst/>
              <a:rect r="r" b="b" t="t" l="l"/>
              <a:pathLst>
                <a:path h="6654481" w="5892578">
                  <a:moveTo>
                    <a:pt x="0" y="0"/>
                  </a:moveTo>
                  <a:lnTo>
                    <a:pt x="5892579" y="0"/>
                  </a:lnTo>
                  <a:lnTo>
                    <a:pt x="5892579" y="6654481"/>
                  </a:lnTo>
                  <a:lnTo>
                    <a:pt x="0" y="6654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378" r="-3650" b="-382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5062761"/>
              <a:ext cx="13112751" cy="6993845"/>
            </a:xfrm>
            <a:custGeom>
              <a:avLst/>
              <a:gdLst/>
              <a:ahLst/>
              <a:cxnLst/>
              <a:rect r="r" b="b" t="t" l="l"/>
              <a:pathLst>
                <a:path h="6993845" w="13112751">
                  <a:moveTo>
                    <a:pt x="0" y="0"/>
                  </a:moveTo>
                  <a:lnTo>
                    <a:pt x="13112751" y="0"/>
                  </a:lnTo>
                  <a:lnTo>
                    <a:pt x="13112751" y="6993845"/>
                  </a:lnTo>
                  <a:lnTo>
                    <a:pt x="0" y="6993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27" t="-18311" r="-318" b="-8659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210216" y="2284239"/>
              <a:ext cx="3239882" cy="1204728"/>
              <a:chOff x="0" y="0"/>
              <a:chExt cx="592918" cy="22047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92918" cy="220472"/>
              </a:xfrm>
              <a:custGeom>
                <a:avLst/>
                <a:gdLst/>
                <a:ahLst/>
                <a:cxnLst/>
                <a:rect r="r" b="b" t="t" l="l"/>
                <a:pathLst>
                  <a:path h="220472" w="592918">
                    <a:moveTo>
                      <a:pt x="0" y="0"/>
                    </a:moveTo>
                    <a:lnTo>
                      <a:pt x="592918" y="0"/>
                    </a:lnTo>
                    <a:lnTo>
                      <a:pt x="592918" y="220472"/>
                    </a:lnTo>
                    <a:lnTo>
                      <a:pt x="0" y="220472"/>
                    </a:lnTo>
                    <a:close/>
                  </a:path>
                </a:pathLst>
              </a:custGeom>
              <a:solidFill>
                <a:srgbClr val="7B624F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592918" cy="220472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2464"/>
                  </a:lnSpc>
                  <a:spcBef>
                    <a:spcPct val="0"/>
                  </a:spcBef>
                </a:pPr>
                <a:r>
                  <a:rPr lang="en-US" b="true" sz="1981" strike="noStrike" u="none">
                    <a:solidFill>
                      <a:srgbClr val="000000">
                        <a:alpha val="61961"/>
                      </a:srgbClr>
                    </a:solidFill>
                    <a:latin typeface="Mina Bold"/>
                    <a:ea typeface="Mina Bold"/>
                    <a:cs typeface="Mina Bold"/>
                    <a:sym typeface="Mina Bold"/>
                  </a:rPr>
                  <a:t>BANANA PSEUDO STEM 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252349" y="954088"/>
              <a:ext cx="3616519" cy="1069348"/>
              <a:chOff x="0" y="0"/>
              <a:chExt cx="661844" cy="1956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61844" cy="195697"/>
              </a:xfrm>
              <a:custGeom>
                <a:avLst/>
                <a:gdLst/>
                <a:ahLst/>
                <a:cxnLst/>
                <a:rect r="r" b="b" t="t" l="l"/>
                <a:pathLst>
                  <a:path h="195697" w="661844">
                    <a:moveTo>
                      <a:pt x="0" y="0"/>
                    </a:moveTo>
                    <a:lnTo>
                      <a:pt x="661844" y="0"/>
                    </a:lnTo>
                    <a:lnTo>
                      <a:pt x="661844" y="195697"/>
                    </a:lnTo>
                    <a:lnTo>
                      <a:pt x="0" y="195697"/>
                    </a:lnTo>
                    <a:close/>
                  </a:path>
                </a:pathLst>
              </a:custGeom>
              <a:solidFill>
                <a:srgbClr val="C6B39C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661844" cy="205222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CENTRAL CORE (10-15%)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4252349" y="2284239"/>
              <a:ext cx="3616519" cy="851152"/>
              <a:chOff x="0" y="0"/>
              <a:chExt cx="661844" cy="15576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61844" cy="155766"/>
              </a:xfrm>
              <a:custGeom>
                <a:avLst/>
                <a:gdLst/>
                <a:ahLst/>
                <a:cxnLst/>
                <a:rect r="r" b="b" t="t" l="l"/>
                <a:pathLst>
                  <a:path h="155766" w="661844">
                    <a:moveTo>
                      <a:pt x="0" y="0"/>
                    </a:moveTo>
                    <a:lnTo>
                      <a:pt x="661844" y="0"/>
                    </a:lnTo>
                    <a:lnTo>
                      <a:pt x="661844" y="155766"/>
                    </a:lnTo>
                    <a:lnTo>
                      <a:pt x="0" y="155766"/>
                    </a:lnTo>
                    <a:close/>
                  </a:path>
                </a:pathLst>
              </a:custGeom>
              <a:solidFill>
                <a:srgbClr val="C6B39C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661844" cy="165291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BANANA FIBRE(1.5-2%) 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252349" y="3307024"/>
              <a:ext cx="3616519" cy="1227080"/>
              <a:chOff x="0" y="0"/>
              <a:chExt cx="661844" cy="22456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61844" cy="224563"/>
              </a:xfrm>
              <a:custGeom>
                <a:avLst/>
                <a:gdLst/>
                <a:ahLst/>
                <a:cxnLst/>
                <a:rect r="r" b="b" t="t" l="l"/>
                <a:pathLst>
                  <a:path h="224563" w="661844">
                    <a:moveTo>
                      <a:pt x="0" y="0"/>
                    </a:moveTo>
                    <a:lnTo>
                      <a:pt x="661844" y="0"/>
                    </a:lnTo>
                    <a:lnTo>
                      <a:pt x="661844" y="224563"/>
                    </a:lnTo>
                    <a:lnTo>
                      <a:pt x="0" y="224563"/>
                    </a:lnTo>
                    <a:close/>
                  </a:path>
                </a:pathLst>
              </a:custGeom>
              <a:solidFill>
                <a:srgbClr val="C6B39C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661844" cy="234088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 WASTE MATERIAL (85-90%)FABRIC PULP 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8715332" y="954088"/>
              <a:ext cx="4571447" cy="924284"/>
              <a:chOff x="0" y="0"/>
              <a:chExt cx="836602" cy="16915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36602" cy="169150"/>
              </a:xfrm>
              <a:custGeom>
                <a:avLst/>
                <a:gdLst/>
                <a:ahLst/>
                <a:cxnLst/>
                <a:rect r="r" b="b" t="t" l="l"/>
                <a:pathLst>
                  <a:path h="169150" w="836602">
                    <a:moveTo>
                      <a:pt x="0" y="0"/>
                    </a:moveTo>
                    <a:lnTo>
                      <a:pt x="836602" y="0"/>
                    </a:lnTo>
                    <a:lnTo>
                      <a:pt x="836602" y="169150"/>
                    </a:lnTo>
                    <a:lnTo>
                      <a:pt x="0" y="169150"/>
                    </a:lnTo>
                    <a:close/>
                  </a:path>
                </a:pathLst>
              </a:custGeom>
              <a:solidFill>
                <a:srgbClr val="C3AD82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836602" cy="178675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OTHER INDUSTRIES SUCH AS CANDY,PICKLE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715332" y="2023436"/>
              <a:ext cx="4571447" cy="1283589"/>
              <a:chOff x="0" y="0"/>
              <a:chExt cx="836602" cy="234904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36602" cy="234904"/>
              </a:xfrm>
              <a:custGeom>
                <a:avLst/>
                <a:gdLst/>
                <a:ahLst/>
                <a:cxnLst/>
                <a:rect r="r" b="b" t="t" l="l"/>
                <a:pathLst>
                  <a:path h="234904" w="836602">
                    <a:moveTo>
                      <a:pt x="0" y="0"/>
                    </a:moveTo>
                    <a:lnTo>
                      <a:pt x="836602" y="0"/>
                    </a:lnTo>
                    <a:lnTo>
                      <a:pt x="836602" y="234904"/>
                    </a:lnTo>
                    <a:lnTo>
                      <a:pt x="0" y="234904"/>
                    </a:lnTo>
                    <a:close/>
                  </a:path>
                </a:pathLst>
              </a:custGeom>
              <a:solidFill>
                <a:srgbClr val="C3AD82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836602" cy="244429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USED FOR MAKING BANANA FABRIC FOR TOTE BAGS,BEDSHEETS ETC.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8715332" y="3488967"/>
              <a:ext cx="4571447" cy="1045137"/>
              <a:chOff x="0" y="0"/>
              <a:chExt cx="836602" cy="19126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36602" cy="191266"/>
              </a:xfrm>
              <a:custGeom>
                <a:avLst/>
                <a:gdLst/>
                <a:ahLst/>
                <a:cxnLst/>
                <a:rect r="r" b="b" t="t" l="l"/>
                <a:pathLst>
                  <a:path h="191266" w="836602">
                    <a:moveTo>
                      <a:pt x="0" y="0"/>
                    </a:moveTo>
                    <a:lnTo>
                      <a:pt x="836602" y="0"/>
                    </a:lnTo>
                    <a:lnTo>
                      <a:pt x="836602" y="191266"/>
                    </a:lnTo>
                    <a:lnTo>
                      <a:pt x="0" y="191266"/>
                    </a:lnTo>
                    <a:close/>
                  </a:path>
                </a:pathLst>
              </a:custGeom>
              <a:solidFill>
                <a:srgbClr val="C3AD82">
                  <a:alpha val="61961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836602" cy="200791"/>
              </a:xfrm>
              <a:prstGeom prst="rect">
                <a:avLst/>
              </a:prstGeom>
            </p:spPr>
            <p:txBody>
              <a:bodyPr anchor="ctr" rtlCol="false" tIns="50492" lIns="50492" bIns="50492" rIns="50492"/>
              <a:lstStyle/>
              <a:p>
                <a:pPr algn="ctr" marL="0" indent="0" lvl="0">
                  <a:lnSpc>
                    <a:spcPts val="1967"/>
                  </a:lnSpc>
                  <a:spcBef>
                    <a:spcPct val="0"/>
                  </a:spcBef>
                </a:pPr>
                <a:r>
                  <a:rPr lang="en-US" sz="1581" strike="noStrike" u="none">
                    <a:solidFill>
                      <a:srgbClr val="000000">
                        <a:alpha val="61961"/>
                      </a:srgbClr>
                    </a:solidFill>
                    <a:latin typeface="Mina"/>
                    <a:ea typeface="Mina"/>
                    <a:cs typeface="Mina"/>
                    <a:sym typeface="Mina"/>
                  </a:rPr>
                  <a:t>USED FOR MAKING THE PACKAGING </a:t>
                </a:r>
              </a:p>
            </p:txBody>
          </p:sp>
        </p:grpSp>
        <p:sp>
          <p:nvSpPr>
            <p:cNvPr name="AutoShape 42" id="42"/>
            <p:cNvSpPr/>
            <p:nvPr/>
          </p:nvSpPr>
          <p:spPr>
            <a:xfrm>
              <a:off x="3450098" y="2713104"/>
              <a:ext cx="724069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7868867" y="2566530"/>
              <a:ext cx="846465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4" id="44"/>
            <p:cNvSpPr/>
            <p:nvPr/>
          </p:nvSpPr>
          <p:spPr>
            <a:xfrm>
              <a:off x="7868867" y="3970526"/>
              <a:ext cx="846465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5" id="45"/>
            <p:cNvSpPr/>
            <p:nvPr/>
          </p:nvSpPr>
          <p:spPr>
            <a:xfrm>
              <a:off x="7868867" y="1385432"/>
              <a:ext cx="846465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3450098" y="1312361"/>
              <a:ext cx="724069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3450098" y="4154597"/>
              <a:ext cx="724069" cy="0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3450098" y="1312361"/>
              <a:ext cx="32377" cy="2842236"/>
            </a:xfrm>
            <a:prstGeom prst="line">
              <a:avLst/>
            </a:prstGeom>
            <a:ln cap="flat" w="5516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0" y="4563607"/>
              <a:ext cx="13040717" cy="49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7"/>
                </a:lnSpc>
                <a:spcBef>
                  <a:spcPct val="0"/>
                </a:spcBef>
              </a:pPr>
              <a:r>
                <a:rPr lang="en-US" b="true" sz="2465">
                  <a:solidFill>
                    <a:srgbClr val="3D251E"/>
                  </a:solidFill>
                  <a:latin typeface="Mina Bold"/>
                  <a:ea typeface="Mina Bold"/>
                  <a:cs typeface="Mina Bold"/>
                  <a:sym typeface="Mina Bold"/>
                </a:rPr>
                <a:t>Process of making fabric and packaging from banana pseudo stem 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8927961" y="7340370"/>
              <a:ext cx="5430639" cy="49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7"/>
                </a:lnSpc>
                <a:spcBef>
                  <a:spcPct val="0"/>
                </a:spcBef>
              </a:pPr>
              <a:r>
                <a:rPr lang="en-US" b="true" sz="2465">
                  <a:solidFill>
                    <a:srgbClr val="3D251E"/>
                  </a:solidFill>
                  <a:latin typeface="Mina Bold"/>
                  <a:ea typeface="Mina Bold"/>
                  <a:cs typeface="Mina Bold"/>
                  <a:sym typeface="Mina Bold"/>
                </a:rPr>
                <a:t>Making packaging from pulp</a:t>
              </a:r>
            </a:p>
          </p:txBody>
        </p:sp>
        <p:grpSp>
          <p:nvGrpSpPr>
            <p:cNvPr name="Group 51" id="51"/>
            <p:cNvGrpSpPr/>
            <p:nvPr/>
          </p:nvGrpSpPr>
          <p:grpSpPr>
            <a:xfrm rot="0">
              <a:off x="13459862" y="8045490"/>
              <a:ext cx="10936199" cy="3955510"/>
              <a:chOff x="0" y="0"/>
              <a:chExt cx="2160237" cy="78133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160237" cy="781335"/>
              </a:xfrm>
              <a:custGeom>
                <a:avLst/>
                <a:gdLst/>
                <a:ahLst/>
                <a:cxnLst/>
                <a:rect r="r" b="b" t="t" l="l"/>
                <a:pathLst>
                  <a:path h="781335" w="2160237">
                    <a:moveTo>
                      <a:pt x="17425" y="0"/>
                    </a:moveTo>
                    <a:lnTo>
                      <a:pt x="2142811" y="0"/>
                    </a:lnTo>
                    <a:cubicBezTo>
                      <a:pt x="2147433" y="0"/>
                      <a:pt x="2151865" y="1836"/>
                      <a:pt x="2155133" y="5104"/>
                    </a:cubicBezTo>
                    <a:cubicBezTo>
                      <a:pt x="2158401" y="8372"/>
                      <a:pt x="2160237" y="12804"/>
                      <a:pt x="2160237" y="17425"/>
                    </a:cubicBezTo>
                    <a:lnTo>
                      <a:pt x="2160237" y="763910"/>
                    </a:lnTo>
                    <a:cubicBezTo>
                      <a:pt x="2160237" y="768532"/>
                      <a:pt x="2158401" y="772964"/>
                      <a:pt x="2155133" y="776232"/>
                    </a:cubicBezTo>
                    <a:cubicBezTo>
                      <a:pt x="2151865" y="779500"/>
                      <a:pt x="2147433" y="781335"/>
                      <a:pt x="2142811" y="781335"/>
                    </a:cubicBezTo>
                    <a:lnTo>
                      <a:pt x="17425" y="781335"/>
                    </a:lnTo>
                    <a:cubicBezTo>
                      <a:pt x="12804" y="781335"/>
                      <a:pt x="8372" y="779500"/>
                      <a:pt x="5104" y="776232"/>
                    </a:cubicBezTo>
                    <a:cubicBezTo>
                      <a:pt x="1836" y="772964"/>
                      <a:pt x="0" y="768532"/>
                      <a:pt x="0" y="763910"/>
                    </a:cubicBezTo>
                    <a:lnTo>
                      <a:pt x="0" y="17425"/>
                    </a:lnTo>
                    <a:cubicBezTo>
                      <a:pt x="0" y="12804"/>
                      <a:pt x="1836" y="8372"/>
                      <a:pt x="5104" y="5104"/>
                    </a:cubicBezTo>
                    <a:cubicBezTo>
                      <a:pt x="8372" y="1836"/>
                      <a:pt x="12804" y="0"/>
                      <a:pt x="17425" y="0"/>
                    </a:cubicBezTo>
                    <a:close/>
                  </a:path>
                </a:pathLst>
              </a:custGeom>
              <a:solidFill>
                <a:srgbClr val="B59D8B"/>
              </a:solidFill>
              <a:ln w="38100" cap="sq">
                <a:solidFill>
                  <a:srgbClr val="130E0C"/>
                </a:solidFill>
                <a:prstDash val="sysDot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2160237" cy="790860"/>
              </a:xfrm>
              <a:prstGeom prst="rect">
                <a:avLst/>
              </a:prstGeom>
            </p:spPr>
            <p:txBody>
              <a:bodyPr anchor="ctr" rtlCol="false" tIns="46779" lIns="46779" bIns="46779" rIns="46779"/>
              <a:lstStyle/>
              <a:p>
                <a:pPr algn="ctr">
                  <a:lnSpc>
                    <a:spcPts val="3067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13960425" y="8345812"/>
              <a:ext cx="9985872" cy="3348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3886" indent="-246943" lvl="1">
                <a:lnSpc>
                  <a:spcPts val="2845"/>
                </a:lnSpc>
                <a:buFont typeface="Arial"/>
                <a:buChar char="•"/>
              </a:pPr>
              <a:r>
                <a:rPr lang="en-US" sz="2287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The banana pseudo-stem is cut and processed to take out the fibers.</a:t>
              </a:r>
            </a:p>
            <a:p>
              <a:pPr algn="l" marL="493886" indent="-246943" lvl="1">
                <a:lnSpc>
                  <a:spcPts val="2845"/>
                </a:lnSpc>
                <a:buFont typeface="Arial"/>
                <a:buChar char="•"/>
              </a:pPr>
              <a:r>
                <a:rPr lang="en-US" sz="2287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 After extraction, the fibres are washed, dried, and then spun into yarn.</a:t>
              </a:r>
            </a:p>
            <a:p>
              <a:pPr algn="l" marL="493886" indent="-246943" lvl="1">
                <a:lnSpc>
                  <a:spcPts val="2845"/>
                </a:lnSpc>
                <a:buFont typeface="Arial"/>
                <a:buChar char="•"/>
              </a:pPr>
              <a:r>
                <a:rPr lang="en-US" sz="2287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Yarn is given a weave to make banana fibre fabric.</a:t>
              </a:r>
            </a:p>
            <a:p>
              <a:pPr algn="l" marL="493886" indent="-246943" lvl="1">
                <a:lnSpc>
                  <a:spcPts val="2845"/>
                </a:lnSpc>
                <a:buFont typeface="Arial"/>
                <a:buChar char="•"/>
              </a:pPr>
              <a:r>
                <a:rPr lang="en-US" sz="2287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The residual waste pulp is then utilized in making biodegradable packaging.</a:t>
              </a:r>
            </a:p>
          </p:txBody>
        </p:sp>
        <p:sp>
          <p:nvSpPr>
            <p:cNvPr name="Freeform 55" id="55"/>
            <p:cNvSpPr/>
            <p:nvPr/>
          </p:nvSpPr>
          <p:spPr>
            <a:xfrm>
              <a:off x="13112752" y="7372083"/>
              <a:ext cx="615144" cy="673408"/>
            </a:xfrm>
            <a:custGeom>
              <a:avLst/>
              <a:gdLst/>
              <a:ahLst/>
              <a:cxnLst/>
              <a:rect r="r" b="b" t="t" l="l"/>
              <a:pathLst>
                <a:path h="673408" w="615144">
                  <a:moveTo>
                    <a:pt x="615143" y="673407"/>
                  </a:moveTo>
                  <a:lnTo>
                    <a:pt x="615143" y="556270"/>
                  </a:lnTo>
                  <a:cubicBezTo>
                    <a:pt x="615143" y="491577"/>
                    <a:pt x="562700" y="439132"/>
                    <a:pt x="498006" y="439132"/>
                  </a:cubicBezTo>
                  <a:lnTo>
                    <a:pt x="483561" y="439132"/>
                  </a:lnTo>
                  <a:cubicBezTo>
                    <a:pt x="448664" y="439132"/>
                    <a:pt x="415194" y="425269"/>
                    <a:pt x="390518" y="400593"/>
                  </a:cubicBezTo>
                  <a:cubicBezTo>
                    <a:pt x="365841" y="375916"/>
                    <a:pt x="351978" y="342448"/>
                    <a:pt x="351978" y="307550"/>
                  </a:cubicBezTo>
                  <a:lnTo>
                    <a:pt x="351978" y="175989"/>
                  </a:lnTo>
                  <a:cubicBezTo>
                    <a:pt x="351978" y="129313"/>
                    <a:pt x="333437" y="84550"/>
                    <a:pt x="300432" y="51545"/>
                  </a:cubicBezTo>
                  <a:cubicBezTo>
                    <a:pt x="267428" y="18541"/>
                    <a:pt x="222663" y="0"/>
                    <a:pt x="175989" y="0"/>
                  </a:cubicBezTo>
                  <a:lnTo>
                    <a:pt x="0" y="0"/>
                  </a:lnTo>
                </a:path>
              </a:pathLst>
            </a:custGeom>
            <a:ln cap="flat" w="55167">
              <a:solidFill>
                <a:srgbClr val="7D7D7D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210216" y="342549"/>
              <a:ext cx="13112751" cy="94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48"/>
                </a:lnSpc>
              </a:pPr>
              <a:r>
                <a:rPr lang="en-US" sz="2289" b="true">
                  <a:solidFill>
                    <a:srgbClr val="3D251E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One banana stem → fabric + zero-waste packaging </a:t>
              </a:r>
            </a:p>
            <a:p>
              <a:pPr algn="l">
                <a:lnSpc>
                  <a:spcPts val="2848"/>
                </a:lnSpc>
                <a:spcBef>
                  <a:spcPct val="0"/>
                </a:spcBef>
              </a:pPr>
            </a:p>
          </p:txBody>
        </p:sp>
        <p:grpSp>
          <p:nvGrpSpPr>
            <p:cNvPr name="Group 57" id="57"/>
            <p:cNvGrpSpPr/>
            <p:nvPr/>
          </p:nvGrpSpPr>
          <p:grpSpPr>
            <a:xfrm rot="0">
              <a:off x="13453439" y="0"/>
              <a:ext cx="5037982" cy="7761396"/>
              <a:chOff x="0" y="0"/>
              <a:chExt cx="995157" cy="1533115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995157" cy="1533115"/>
              </a:xfrm>
              <a:custGeom>
                <a:avLst/>
                <a:gdLst/>
                <a:ahLst/>
                <a:cxnLst/>
                <a:rect r="r" b="b" t="t" l="l"/>
                <a:pathLst>
                  <a:path h="1533115" w="995157">
                    <a:moveTo>
                      <a:pt x="75652" y="0"/>
                    </a:moveTo>
                    <a:lnTo>
                      <a:pt x="919505" y="0"/>
                    </a:lnTo>
                    <a:cubicBezTo>
                      <a:pt x="961286" y="0"/>
                      <a:pt x="995157" y="33871"/>
                      <a:pt x="995157" y="75652"/>
                    </a:cubicBezTo>
                    <a:lnTo>
                      <a:pt x="995157" y="1457463"/>
                    </a:lnTo>
                    <a:cubicBezTo>
                      <a:pt x="995157" y="1499245"/>
                      <a:pt x="961286" y="1533115"/>
                      <a:pt x="919505" y="1533115"/>
                    </a:cubicBezTo>
                    <a:lnTo>
                      <a:pt x="75652" y="1533115"/>
                    </a:lnTo>
                    <a:cubicBezTo>
                      <a:pt x="33871" y="1533115"/>
                      <a:pt x="0" y="1499245"/>
                      <a:pt x="0" y="1457463"/>
                    </a:cubicBezTo>
                    <a:lnTo>
                      <a:pt x="0" y="75652"/>
                    </a:lnTo>
                    <a:cubicBezTo>
                      <a:pt x="0" y="33871"/>
                      <a:pt x="33871" y="0"/>
                      <a:pt x="75652" y="0"/>
                    </a:cubicBezTo>
                    <a:close/>
                  </a:path>
                </a:pathLst>
              </a:custGeom>
              <a:solidFill>
                <a:srgbClr val="D3B68F"/>
              </a:solidFill>
              <a:ln w="38100" cap="rnd">
                <a:solidFill>
                  <a:srgbClr val="000000"/>
                </a:solidFill>
                <a:prstDash val="sysDot"/>
                <a:round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66675"/>
                <a:ext cx="995157" cy="1599790"/>
              </a:xfrm>
              <a:prstGeom prst="rect">
                <a:avLst/>
              </a:prstGeom>
            </p:spPr>
            <p:txBody>
              <a:bodyPr anchor="ctr" rtlCol="false" tIns="46779" lIns="46779" bIns="46779" rIns="46779"/>
              <a:lstStyle/>
              <a:p>
                <a:pPr algn="l" marL="429116" indent="-214558" lvl="1">
                  <a:lnSpc>
                    <a:spcPts val="2472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987" strike="noStrike" u="none">
                    <a:solidFill>
                      <a:srgbClr val="000000"/>
                    </a:solidFill>
                    <a:latin typeface="Agrandir"/>
                    <a:ea typeface="Agrandir"/>
                    <a:cs typeface="Agrandir"/>
                    <a:sym typeface="Agrandir"/>
                  </a:rPr>
                  <a:t>Banana stems are processed to provide fibres for making fabric. To crush the pseudostem we will use sugarcane crushers which are cheaper and readily available.</a:t>
                </a:r>
              </a:p>
              <a:p>
                <a:pPr algn="l" marL="429116" indent="-214558" lvl="1">
                  <a:lnSpc>
                    <a:spcPts val="2472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987" strike="noStrike" u="none">
                    <a:solidFill>
                      <a:srgbClr val="000000"/>
                    </a:solidFill>
                    <a:latin typeface="Agrandir"/>
                    <a:ea typeface="Agrandir"/>
                    <a:cs typeface="Agrandir"/>
                    <a:sym typeface="Agrandir"/>
                  </a:rPr>
                  <a:t>The leftover bananas are pulped and processed, rather than discarding them.</a:t>
                </a:r>
              </a:p>
              <a:p>
                <a:pPr algn="l" marL="429116" indent="-214558" lvl="1">
                  <a:lnSpc>
                    <a:spcPts val="2472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987" strike="noStrike" u="none">
                    <a:solidFill>
                      <a:srgbClr val="000000"/>
                    </a:solidFill>
                    <a:latin typeface="Agrandir"/>
                    <a:ea typeface="Agrandir"/>
                    <a:cs typeface="Agrandir"/>
                    <a:sym typeface="Agrandir"/>
                  </a:rPr>
                  <a:t>Pulp is processed into packaging material like trays and boxes.</a:t>
                </a:r>
              </a:p>
              <a:p>
                <a:pPr algn="l" marL="429116" indent="-214558" lvl="1">
                  <a:lnSpc>
                    <a:spcPts val="2472"/>
                  </a:lnSpc>
                  <a:spcBef>
                    <a:spcPct val="0"/>
                  </a:spcBef>
                  <a:buFont typeface="Arial"/>
                  <a:buChar char="•"/>
                </a:pPr>
                <a:r>
                  <a:rPr lang="en-US" sz="1987" strike="noStrike" u="none">
                    <a:solidFill>
                      <a:srgbClr val="000000"/>
                    </a:solidFill>
                    <a:latin typeface="Agrandir"/>
                    <a:ea typeface="Agrandir"/>
                    <a:cs typeface="Agrandir"/>
                    <a:sym typeface="Agrandir"/>
                  </a:rPr>
                  <a:t>It becomes biodegradable and plastic packaging afterwards.</a:t>
                </a:r>
              </a:p>
            </p:txBody>
          </p:sp>
        </p:grpSp>
        <p:sp>
          <p:nvSpPr>
            <p:cNvPr name="Freeform 60" id="60"/>
            <p:cNvSpPr/>
            <p:nvPr/>
          </p:nvSpPr>
          <p:spPr>
            <a:xfrm>
              <a:off x="18491422" y="6961718"/>
              <a:ext cx="541801" cy="420712"/>
            </a:xfrm>
            <a:custGeom>
              <a:avLst/>
              <a:gdLst/>
              <a:ahLst/>
              <a:cxnLst/>
              <a:rect r="r" b="b" t="t" l="l"/>
              <a:pathLst>
                <a:path h="420712" w="541801">
                  <a:moveTo>
                    <a:pt x="0" y="119324"/>
                  </a:moveTo>
                  <a:lnTo>
                    <a:pt x="154107" y="119324"/>
                  </a:lnTo>
                  <a:cubicBezTo>
                    <a:pt x="237332" y="119324"/>
                    <a:pt x="304800" y="186792"/>
                    <a:pt x="304800" y="270018"/>
                  </a:cubicBezTo>
                  <a:lnTo>
                    <a:pt x="304800" y="336450"/>
                  </a:lnTo>
                  <a:cubicBezTo>
                    <a:pt x="304800" y="358797"/>
                    <a:pt x="295923" y="380229"/>
                    <a:pt x="280121" y="396031"/>
                  </a:cubicBezTo>
                  <a:cubicBezTo>
                    <a:pt x="264318" y="411833"/>
                    <a:pt x="242886" y="420711"/>
                    <a:pt x="220538" y="420711"/>
                  </a:cubicBezTo>
                  <a:lnTo>
                    <a:pt x="220538" y="420711"/>
                  </a:lnTo>
                  <a:cubicBezTo>
                    <a:pt x="198191" y="420711"/>
                    <a:pt x="176758" y="411833"/>
                    <a:pt x="160956" y="396031"/>
                  </a:cubicBezTo>
                  <a:cubicBezTo>
                    <a:pt x="145154" y="380229"/>
                    <a:pt x="136277" y="358797"/>
                    <a:pt x="136277" y="336450"/>
                  </a:cubicBezTo>
                  <a:lnTo>
                    <a:pt x="136277" y="318609"/>
                  </a:lnTo>
                  <a:cubicBezTo>
                    <a:pt x="136277" y="262219"/>
                    <a:pt x="181990" y="216506"/>
                    <a:pt x="238379" y="216506"/>
                  </a:cubicBezTo>
                  <a:lnTo>
                    <a:pt x="433548" y="216506"/>
                  </a:lnTo>
                  <a:cubicBezTo>
                    <a:pt x="493334" y="216506"/>
                    <a:pt x="541801" y="168039"/>
                    <a:pt x="541801" y="108253"/>
                  </a:cubicBezTo>
                  <a:lnTo>
                    <a:pt x="541801" y="0"/>
                  </a:lnTo>
                </a:path>
              </a:pathLst>
            </a:custGeom>
            <a:ln cap="flat" w="55167">
              <a:solidFill>
                <a:srgbClr val="7D7D7D"/>
              </a:solidFill>
              <a:prstDash val="sysDot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853" y="9511188"/>
            <a:ext cx="18288000" cy="754857"/>
            <a:chOff x="0" y="0"/>
            <a:chExt cx="24383998" cy="1006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2276" y="0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438400"/>
                  </a:lnTo>
                  <a:lnTo>
                    <a:pt x="0" y="2438400"/>
                  </a:lnTo>
                  <a:close/>
                </a:path>
              </a:pathLst>
            </a:custGeom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21945600" cy="2543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54274" y="9543263"/>
            <a:ext cx="4217670" cy="541330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26119" y="2385523"/>
            <a:ext cx="3467293" cy="2329527"/>
            <a:chOff x="0" y="0"/>
            <a:chExt cx="1622733" cy="10902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2733" cy="1090245"/>
            </a:xfrm>
            <a:custGeom>
              <a:avLst/>
              <a:gdLst/>
              <a:ahLst/>
              <a:cxnLst/>
              <a:rect r="r" b="b" t="t" l="l"/>
              <a:pathLst>
                <a:path h="1090245" w="1622733">
                  <a:moveTo>
                    <a:pt x="1498273" y="1090245"/>
                  </a:moveTo>
                  <a:lnTo>
                    <a:pt x="124460" y="1090245"/>
                  </a:lnTo>
                  <a:cubicBezTo>
                    <a:pt x="55880" y="1090245"/>
                    <a:pt x="0" y="1034365"/>
                    <a:pt x="0" y="96578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98273" y="0"/>
                  </a:lnTo>
                  <a:cubicBezTo>
                    <a:pt x="1566853" y="0"/>
                    <a:pt x="1622733" y="55880"/>
                    <a:pt x="1622733" y="124460"/>
                  </a:cubicBezTo>
                  <a:lnTo>
                    <a:pt x="1622733" y="965785"/>
                  </a:lnTo>
                  <a:cubicBezTo>
                    <a:pt x="1622733" y="1034365"/>
                    <a:pt x="1566853" y="1090245"/>
                    <a:pt x="1498273" y="1090245"/>
                  </a:cubicBezTo>
                  <a:close/>
                </a:path>
              </a:pathLst>
            </a:custGeom>
            <a:solidFill>
              <a:srgbClr val="000001">
                <a:alpha val="52941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45467" y="5128615"/>
            <a:ext cx="3361179" cy="2196713"/>
            <a:chOff x="0" y="0"/>
            <a:chExt cx="1528602" cy="9990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8602" cy="999024"/>
            </a:xfrm>
            <a:custGeom>
              <a:avLst/>
              <a:gdLst/>
              <a:ahLst/>
              <a:cxnLst/>
              <a:rect r="r" b="b" t="t" l="l"/>
              <a:pathLst>
                <a:path h="999024" w="1528602">
                  <a:moveTo>
                    <a:pt x="1404142" y="999024"/>
                  </a:moveTo>
                  <a:lnTo>
                    <a:pt x="124460" y="999024"/>
                  </a:lnTo>
                  <a:cubicBezTo>
                    <a:pt x="55880" y="999024"/>
                    <a:pt x="0" y="943144"/>
                    <a:pt x="0" y="87456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4142" y="0"/>
                  </a:lnTo>
                  <a:cubicBezTo>
                    <a:pt x="1472722" y="0"/>
                    <a:pt x="1528602" y="55880"/>
                    <a:pt x="1528602" y="124460"/>
                  </a:cubicBezTo>
                  <a:lnTo>
                    <a:pt x="1528602" y="874564"/>
                  </a:lnTo>
                  <a:cubicBezTo>
                    <a:pt x="1528602" y="943144"/>
                    <a:pt x="1472722" y="999024"/>
                    <a:pt x="1404142" y="999024"/>
                  </a:cubicBezTo>
                  <a:close/>
                </a:path>
              </a:pathLst>
            </a:custGeom>
            <a:solidFill>
              <a:srgbClr val="000001">
                <a:alpha val="52941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746604" y="7134336"/>
            <a:ext cx="3361179" cy="2196713"/>
            <a:chOff x="0" y="0"/>
            <a:chExt cx="1528602" cy="9990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8602" cy="999024"/>
            </a:xfrm>
            <a:custGeom>
              <a:avLst/>
              <a:gdLst/>
              <a:ahLst/>
              <a:cxnLst/>
              <a:rect r="r" b="b" t="t" l="l"/>
              <a:pathLst>
                <a:path h="999024" w="1528602">
                  <a:moveTo>
                    <a:pt x="1404142" y="999024"/>
                  </a:moveTo>
                  <a:lnTo>
                    <a:pt x="124460" y="999024"/>
                  </a:lnTo>
                  <a:cubicBezTo>
                    <a:pt x="55880" y="999024"/>
                    <a:pt x="0" y="943144"/>
                    <a:pt x="0" y="87456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4142" y="0"/>
                  </a:lnTo>
                  <a:cubicBezTo>
                    <a:pt x="1472722" y="0"/>
                    <a:pt x="1528602" y="55880"/>
                    <a:pt x="1528602" y="124460"/>
                  </a:cubicBezTo>
                  <a:lnTo>
                    <a:pt x="1528602" y="874564"/>
                  </a:lnTo>
                  <a:cubicBezTo>
                    <a:pt x="1528602" y="943144"/>
                    <a:pt x="1472722" y="999024"/>
                    <a:pt x="1404142" y="999024"/>
                  </a:cubicBezTo>
                  <a:close/>
                </a:path>
              </a:pathLst>
            </a:custGeom>
            <a:solidFill>
              <a:srgbClr val="000001">
                <a:alpha val="52941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324" y="5183452"/>
            <a:ext cx="2859550" cy="2971587"/>
            <a:chOff x="0" y="0"/>
            <a:chExt cx="1300470" cy="13514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0470" cy="1351423"/>
            </a:xfrm>
            <a:custGeom>
              <a:avLst/>
              <a:gdLst/>
              <a:ahLst/>
              <a:cxnLst/>
              <a:rect r="r" b="b" t="t" l="l"/>
              <a:pathLst>
                <a:path h="1351423" w="1300470">
                  <a:moveTo>
                    <a:pt x="1176010" y="1351422"/>
                  </a:moveTo>
                  <a:lnTo>
                    <a:pt x="124460" y="1351422"/>
                  </a:lnTo>
                  <a:cubicBezTo>
                    <a:pt x="55880" y="1351422"/>
                    <a:pt x="0" y="1295542"/>
                    <a:pt x="0" y="12269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76010" y="0"/>
                  </a:lnTo>
                  <a:cubicBezTo>
                    <a:pt x="1244590" y="0"/>
                    <a:pt x="1300470" y="55880"/>
                    <a:pt x="1300470" y="124460"/>
                  </a:cubicBezTo>
                  <a:lnTo>
                    <a:pt x="1300470" y="1226963"/>
                  </a:lnTo>
                  <a:cubicBezTo>
                    <a:pt x="1300470" y="1295542"/>
                    <a:pt x="1244590" y="1351423"/>
                    <a:pt x="1176010" y="1351423"/>
                  </a:cubicBezTo>
                  <a:close/>
                </a:path>
              </a:pathLst>
            </a:custGeom>
            <a:solidFill>
              <a:srgbClr val="000001">
                <a:alpha val="52941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87838" y="2515768"/>
            <a:ext cx="3471442" cy="2268775"/>
            <a:chOff x="0" y="0"/>
            <a:chExt cx="1528602" cy="9990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8602" cy="999024"/>
            </a:xfrm>
            <a:custGeom>
              <a:avLst/>
              <a:gdLst/>
              <a:ahLst/>
              <a:cxnLst/>
              <a:rect r="r" b="b" t="t" l="l"/>
              <a:pathLst>
                <a:path h="999024" w="1528602">
                  <a:moveTo>
                    <a:pt x="1404142" y="999024"/>
                  </a:moveTo>
                  <a:lnTo>
                    <a:pt x="124460" y="999024"/>
                  </a:lnTo>
                  <a:cubicBezTo>
                    <a:pt x="55880" y="999024"/>
                    <a:pt x="0" y="943144"/>
                    <a:pt x="0" y="87456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4142" y="0"/>
                  </a:lnTo>
                  <a:cubicBezTo>
                    <a:pt x="1472722" y="0"/>
                    <a:pt x="1528602" y="55880"/>
                    <a:pt x="1528602" y="124460"/>
                  </a:cubicBezTo>
                  <a:lnTo>
                    <a:pt x="1528602" y="874564"/>
                  </a:lnTo>
                  <a:cubicBezTo>
                    <a:pt x="1528602" y="943144"/>
                    <a:pt x="1472722" y="999024"/>
                    <a:pt x="1404142" y="999024"/>
                  </a:cubicBezTo>
                  <a:close/>
                </a:path>
              </a:pathLst>
            </a:custGeom>
            <a:solidFill>
              <a:srgbClr val="D3B68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66226" y="4418640"/>
            <a:ext cx="3467543" cy="2691843"/>
            <a:chOff x="0" y="0"/>
            <a:chExt cx="1576974" cy="122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76974" cy="1224200"/>
            </a:xfrm>
            <a:custGeom>
              <a:avLst/>
              <a:gdLst/>
              <a:ahLst/>
              <a:cxnLst/>
              <a:rect r="r" b="b" t="t" l="l"/>
              <a:pathLst>
                <a:path h="1224200" w="1576974">
                  <a:moveTo>
                    <a:pt x="1452514" y="1224200"/>
                  </a:moveTo>
                  <a:lnTo>
                    <a:pt x="124460" y="1224200"/>
                  </a:lnTo>
                  <a:cubicBezTo>
                    <a:pt x="55880" y="1224200"/>
                    <a:pt x="0" y="1168320"/>
                    <a:pt x="0" y="10997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52514" y="0"/>
                  </a:lnTo>
                  <a:cubicBezTo>
                    <a:pt x="1521094" y="0"/>
                    <a:pt x="1576974" y="55880"/>
                    <a:pt x="1576974" y="124460"/>
                  </a:cubicBezTo>
                  <a:lnTo>
                    <a:pt x="1576974" y="1099740"/>
                  </a:lnTo>
                  <a:cubicBezTo>
                    <a:pt x="1576974" y="1168320"/>
                    <a:pt x="1521094" y="1224200"/>
                    <a:pt x="1452514" y="1224200"/>
                  </a:cubicBezTo>
                  <a:close/>
                </a:path>
              </a:pathLst>
            </a:custGeom>
            <a:solidFill>
              <a:srgbClr val="D3B68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89737" y="7061587"/>
            <a:ext cx="3361179" cy="2196713"/>
            <a:chOff x="0" y="0"/>
            <a:chExt cx="1528602" cy="9990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8602" cy="999024"/>
            </a:xfrm>
            <a:custGeom>
              <a:avLst/>
              <a:gdLst/>
              <a:ahLst/>
              <a:cxnLst/>
              <a:rect r="r" b="b" t="t" l="l"/>
              <a:pathLst>
                <a:path h="999024" w="1528602">
                  <a:moveTo>
                    <a:pt x="1404142" y="999024"/>
                  </a:moveTo>
                  <a:lnTo>
                    <a:pt x="124460" y="999024"/>
                  </a:lnTo>
                  <a:cubicBezTo>
                    <a:pt x="55880" y="999024"/>
                    <a:pt x="0" y="943144"/>
                    <a:pt x="0" y="87456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04142" y="0"/>
                  </a:lnTo>
                  <a:cubicBezTo>
                    <a:pt x="1472722" y="0"/>
                    <a:pt x="1528602" y="55880"/>
                    <a:pt x="1528602" y="124460"/>
                  </a:cubicBezTo>
                  <a:lnTo>
                    <a:pt x="1528602" y="874564"/>
                  </a:lnTo>
                  <a:cubicBezTo>
                    <a:pt x="1528602" y="943144"/>
                    <a:pt x="1472722" y="999024"/>
                    <a:pt x="1404142" y="999024"/>
                  </a:cubicBezTo>
                  <a:close/>
                </a:path>
              </a:pathLst>
            </a:custGeom>
            <a:solidFill>
              <a:srgbClr val="D3B68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2072" y="5143500"/>
            <a:ext cx="2859550" cy="2942143"/>
            <a:chOff x="0" y="0"/>
            <a:chExt cx="1300470" cy="1338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00470" cy="1338032"/>
            </a:xfrm>
            <a:custGeom>
              <a:avLst/>
              <a:gdLst/>
              <a:ahLst/>
              <a:cxnLst/>
              <a:rect r="r" b="b" t="t" l="l"/>
              <a:pathLst>
                <a:path h="1338032" w="1300470">
                  <a:moveTo>
                    <a:pt x="1176010" y="1338032"/>
                  </a:moveTo>
                  <a:lnTo>
                    <a:pt x="124460" y="1338032"/>
                  </a:lnTo>
                  <a:cubicBezTo>
                    <a:pt x="55880" y="1338032"/>
                    <a:pt x="0" y="1282152"/>
                    <a:pt x="0" y="12135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176010" y="0"/>
                  </a:lnTo>
                  <a:cubicBezTo>
                    <a:pt x="1244590" y="0"/>
                    <a:pt x="1300470" y="55880"/>
                    <a:pt x="1300470" y="124460"/>
                  </a:cubicBezTo>
                  <a:lnTo>
                    <a:pt x="1300470" y="1213572"/>
                  </a:lnTo>
                  <a:cubicBezTo>
                    <a:pt x="1300470" y="1282152"/>
                    <a:pt x="1244590" y="1338032"/>
                    <a:pt x="1176010" y="1338032"/>
                  </a:cubicBezTo>
                  <a:close/>
                </a:path>
              </a:pathLst>
            </a:custGeom>
            <a:solidFill>
              <a:srgbClr val="D3B68F"/>
            </a:solidFill>
          </p:spPr>
        </p:sp>
      </p:grpSp>
      <p:sp>
        <p:nvSpPr>
          <p:cNvPr name="Freeform 26" id="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82921" y="4095182"/>
            <a:ext cx="11713854" cy="5416006"/>
          </a:xfrm>
          <a:custGeom>
            <a:avLst/>
            <a:gdLst/>
            <a:ahLst/>
            <a:cxnLst/>
            <a:rect r="r" b="b" t="t" l="l"/>
            <a:pathLst>
              <a:path h="5416006" w="11713854">
                <a:moveTo>
                  <a:pt x="0" y="0"/>
                </a:moveTo>
                <a:lnTo>
                  <a:pt x="3790236" y="0"/>
                </a:lnTo>
                <a:cubicBezTo>
                  <a:pt x="3879664" y="0"/>
                  <a:pt x="3952161" y="72496"/>
                  <a:pt x="3952161" y="161925"/>
                </a:cubicBezTo>
                <a:lnTo>
                  <a:pt x="3952161" y="1867003"/>
                </a:lnTo>
                <a:cubicBezTo>
                  <a:pt x="3952161" y="1956431"/>
                  <a:pt x="4024657" y="2028928"/>
                  <a:pt x="4114086" y="2028928"/>
                </a:cubicBezTo>
                <a:lnTo>
                  <a:pt x="8168835" y="2028928"/>
                </a:lnTo>
                <a:cubicBezTo>
                  <a:pt x="8258263" y="2028928"/>
                  <a:pt x="8330760" y="2101424"/>
                  <a:pt x="8330760" y="2190853"/>
                </a:cubicBezTo>
                <a:lnTo>
                  <a:pt x="8330760" y="3912964"/>
                </a:lnTo>
                <a:cubicBezTo>
                  <a:pt x="8330760" y="3955910"/>
                  <a:pt x="8347820" y="3997095"/>
                  <a:pt x="8378186" y="4027463"/>
                </a:cubicBezTo>
                <a:cubicBezTo>
                  <a:pt x="8408553" y="4057829"/>
                  <a:pt x="8449739" y="4074889"/>
                  <a:pt x="8492685" y="4074889"/>
                </a:cubicBezTo>
                <a:lnTo>
                  <a:pt x="11551930" y="4074889"/>
                </a:lnTo>
                <a:cubicBezTo>
                  <a:pt x="11594875" y="4074889"/>
                  <a:pt x="11636061" y="4091949"/>
                  <a:pt x="11666428" y="4122316"/>
                </a:cubicBezTo>
                <a:cubicBezTo>
                  <a:pt x="11696794" y="4152683"/>
                  <a:pt x="11713855" y="4193869"/>
                  <a:pt x="11713855" y="4236814"/>
                </a:cubicBezTo>
                <a:lnTo>
                  <a:pt x="11713855" y="5416006"/>
                </a:lnTo>
              </a:path>
            </a:pathLst>
          </a:custGeom>
          <a:ln cap="flat" w="514350">
            <a:solidFill>
              <a:srgbClr val="10101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695168" y="4060047"/>
            <a:ext cx="11726102" cy="5451141"/>
          </a:xfrm>
          <a:custGeom>
            <a:avLst/>
            <a:gdLst/>
            <a:ahLst/>
            <a:cxnLst/>
            <a:rect r="r" b="b" t="t" l="l"/>
            <a:pathLst>
              <a:path h="5451141" w="11726102">
                <a:moveTo>
                  <a:pt x="0" y="0"/>
                </a:moveTo>
                <a:lnTo>
                  <a:pt x="3802483" y="0"/>
                </a:lnTo>
                <a:cubicBezTo>
                  <a:pt x="3891911" y="0"/>
                  <a:pt x="3964408" y="72496"/>
                  <a:pt x="3964408" y="161925"/>
                </a:cubicBezTo>
                <a:lnTo>
                  <a:pt x="3964408" y="1867003"/>
                </a:lnTo>
                <a:cubicBezTo>
                  <a:pt x="3964408" y="1956431"/>
                  <a:pt x="4036904" y="2028928"/>
                  <a:pt x="4126333" y="2028928"/>
                </a:cubicBezTo>
                <a:lnTo>
                  <a:pt x="8168834" y="2028928"/>
                </a:lnTo>
                <a:cubicBezTo>
                  <a:pt x="8258263" y="2028928"/>
                  <a:pt x="8330759" y="2101424"/>
                  <a:pt x="8330759" y="2190853"/>
                </a:cubicBezTo>
                <a:lnTo>
                  <a:pt x="8330759" y="3914962"/>
                </a:lnTo>
                <a:cubicBezTo>
                  <a:pt x="8330759" y="4004391"/>
                  <a:pt x="8403256" y="4076887"/>
                  <a:pt x="8492684" y="4076887"/>
                </a:cubicBezTo>
                <a:lnTo>
                  <a:pt x="11564177" y="4076887"/>
                </a:lnTo>
                <a:cubicBezTo>
                  <a:pt x="11653605" y="4076887"/>
                  <a:pt x="11726102" y="4149384"/>
                  <a:pt x="11726102" y="4238812"/>
                </a:cubicBezTo>
                <a:lnTo>
                  <a:pt x="11726102" y="5451141"/>
                </a:lnTo>
              </a:path>
            </a:pathLst>
          </a:custGeom>
          <a:ln cap="flat" w="28575">
            <a:solidFill>
              <a:srgbClr val="FFFFFF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-5400000">
            <a:off x="1961878" y="3731876"/>
            <a:ext cx="717897" cy="717897"/>
            <a:chOff x="0" y="0"/>
            <a:chExt cx="812800" cy="812800"/>
          </a:xfrm>
        </p:grpSpPr>
        <p:sp>
          <p:nvSpPr>
            <p:cNvPr name="Freeform 29" id="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8B3A3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6546" lIns="96546" bIns="96546" rIns="96546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3094639" y="4633839"/>
            <a:ext cx="717897" cy="717897"/>
            <a:chOff x="0" y="0"/>
            <a:chExt cx="812800" cy="812800"/>
          </a:xfrm>
        </p:grpSpPr>
        <p:sp>
          <p:nvSpPr>
            <p:cNvPr name="Freeform 32" id="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8B3A3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6546" lIns="96546" bIns="96546" rIns="96546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5400000">
            <a:off x="6118592" y="5731548"/>
            <a:ext cx="717897" cy="717897"/>
            <a:chOff x="0" y="0"/>
            <a:chExt cx="812800" cy="812800"/>
          </a:xfrm>
        </p:grpSpPr>
        <p:sp>
          <p:nvSpPr>
            <p:cNvPr name="Freeform 35" id="3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8B3A3A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6546" lIns="96546" bIns="96546" rIns="96546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5400000">
            <a:off x="9541049" y="7810781"/>
            <a:ext cx="717897" cy="717897"/>
            <a:chOff x="0" y="0"/>
            <a:chExt cx="812800" cy="812800"/>
          </a:xfrm>
        </p:grpSpPr>
        <p:sp>
          <p:nvSpPr>
            <p:cNvPr name="Freeform 38" id="3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8B3A3A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96546" lIns="96546" bIns="96546" rIns="96546"/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8182692" y="4809626"/>
            <a:ext cx="3503088" cy="200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0182" indent="-135091" lvl="1">
              <a:lnSpc>
                <a:spcPts val="1564"/>
              </a:lnSpc>
              <a:buFont typeface="Arial"/>
              <a:buChar char="•"/>
            </a:pPr>
            <a:r>
              <a:rPr lang="en-US" b="true" sz="125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Integrated Craft Hubs:</a:t>
            </a:r>
            <a:r>
              <a:rPr lang="en-US" sz="1251">
                <a:solidFill>
                  <a:srgbClr val="101010"/>
                </a:solidFill>
                <a:latin typeface="Biski Light"/>
                <a:ea typeface="Biski Light"/>
                <a:cs typeface="Biski Light"/>
                <a:sym typeface="Biski Light"/>
              </a:rPr>
              <a:t> Setting up dual wings: one for textiles, one dedicated to pulp-molded packaging. </a:t>
            </a:r>
          </a:p>
          <a:p>
            <a:pPr algn="l" marL="270182" indent="-135091" lvl="1">
              <a:lnSpc>
                <a:spcPts val="1564"/>
              </a:lnSpc>
              <a:buFont typeface="Arial"/>
              <a:buChar char="•"/>
            </a:pPr>
            <a:r>
              <a:rPr lang="en-US" b="true" sz="125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In-House Pulp Lab: </a:t>
            </a:r>
            <a:r>
              <a:rPr lang="en-US" sz="1251">
                <a:solidFill>
                  <a:srgbClr val="101010"/>
                </a:solidFill>
                <a:latin typeface="Biski Light"/>
                <a:ea typeface="Biski Light"/>
                <a:cs typeface="Biski Light"/>
                <a:sym typeface="Biski Light"/>
              </a:rPr>
              <a:t>Phasing out third-party sourcing to produce 100% of packaging in-house. </a:t>
            </a:r>
          </a:p>
          <a:p>
            <a:pPr algn="l" marL="270182" indent="-135091" lvl="1">
              <a:lnSpc>
                <a:spcPts val="1564"/>
              </a:lnSpc>
              <a:buFont typeface="Arial"/>
              <a:buChar char="•"/>
            </a:pPr>
            <a:r>
              <a:rPr lang="en-US" b="true" sz="1251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Bio-Plastics:</a:t>
            </a:r>
            <a:r>
              <a:rPr lang="en-US" sz="1251">
                <a:solidFill>
                  <a:srgbClr val="101010"/>
                </a:solidFill>
                <a:latin typeface="Biski Light"/>
                <a:ea typeface="Biski Light"/>
                <a:cs typeface="Biski Light"/>
                <a:sym typeface="Biski Light"/>
              </a:rPr>
              <a:t> Developing banana-peel starch into compostable, transparent protective sleeves. </a:t>
            </a:r>
          </a:p>
          <a:p>
            <a:pPr algn="l">
              <a:lnSpc>
                <a:spcPts val="1564"/>
              </a:lnSpc>
            </a:pPr>
          </a:p>
        </p:txBody>
      </p:sp>
      <p:sp>
        <p:nvSpPr>
          <p:cNvPr name="Freeform 41" id="41"/>
          <p:cNvSpPr/>
          <p:nvPr/>
        </p:nvSpPr>
        <p:spPr>
          <a:xfrm flipH="false" flipV="false" rot="5400000">
            <a:off x="7523151" y="5698105"/>
            <a:ext cx="8581512" cy="596279"/>
          </a:xfrm>
          <a:custGeom>
            <a:avLst/>
            <a:gdLst/>
            <a:ahLst/>
            <a:cxnLst/>
            <a:rect r="r" b="b" t="t" l="l"/>
            <a:pathLst>
              <a:path h="596279" w="8581512">
                <a:moveTo>
                  <a:pt x="0" y="0"/>
                </a:moveTo>
                <a:lnTo>
                  <a:pt x="8581511" y="0"/>
                </a:lnTo>
                <a:lnTo>
                  <a:pt x="8581511" y="596279"/>
                </a:lnTo>
                <a:lnTo>
                  <a:pt x="0" y="5962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387" r="-8461" b="0"/>
            </a:stretch>
          </a:blipFill>
        </p:spPr>
      </p:sp>
      <p:graphicFrame>
        <p:nvGraphicFramePr>
          <p:cNvPr name="Table 42" id="42"/>
          <p:cNvGraphicFramePr>
            <a:graphicFrameLocks noGrp="true"/>
          </p:cNvGraphicFramePr>
          <p:nvPr/>
        </p:nvGraphicFramePr>
        <p:xfrm>
          <a:off x="12035732" y="2968272"/>
          <a:ext cx="5710841" cy="7384585"/>
        </p:xfrm>
        <a:graphic>
          <a:graphicData uri="http://schemas.openxmlformats.org/drawingml/2006/table">
            <a:tbl>
              <a:tblPr/>
              <a:tblGrid>
                <a:gridCol w="2758131"/>
                <a:gridCol w="2952709"/>
              </a:tblGrid>
              <a:tr h="195979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High setup cost for Pulp Lab machinery.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3A">
                        <a:alpha val="89804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Outsource pulp processing in the initial stage; reinvest early profits to build in-house capacity.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055">
                        <a:alpha val="89804"/>
                      </a:srgbClr>
                    </a:solidFill>
                  </a:tcPr>
                </a:tc>
              </a:tr>
              <a:tr h="160622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B2B doubts about packaging strength.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3A">
                        <a:alpha val="89804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Lead marketing with certified data showing it is "3x stronger than wood pulp".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055">
                        <a:alpha val="89804"/>
                      </a:srgbClr>
                    </a:solidFill>
                  </a:tcPr>
                </a:tc>
              </a:tr>
              <a:tr h="195979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Inconsistent raw stem collection.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3A">
                        <a:alpha val="89804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67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9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Partner with established NGO networks (like Goonj) for steady, rural supply chains. 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055">
                        <a:alpha val="89804"/>
                      </a:srgbClr>
                    </a:solidFill>
                  </a:tcPr>
                </a:tc>
              </a:tr>
              <a:tr h="18587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0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2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Production waste management.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3A">
                        <a:alpha val="89804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5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814">
                          <a:solidFill>
                            <a:srgbClr val="FFFFFF">
                              <a:alpha val="89804"/>
                            </a:srgbClr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Zero-waste lifecycle: all stem remnants and fabric offcuts are repurposed into packaging.</a:t>
                      </a:r>
                      <a:endParaRPr lang="en-US" sz="1100"/>
                    </a:p>
                  </a:txBody>
                  <a:tcPr marL="87877" marR="87877" marT="87877" marB="87877" anchor="ctr">
                    <a:lnL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F4B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055">
                        <a:alpha val="89804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name="Group 43" id="43"/>
          <p:cNvGrpSpPr/>
          <p:nvPr/>
        </p:nvGrpSpPr>
        <p:grpSpPr>
          <a:xfrm rot="0">
            <a:off x="15068682" y="2315849"/>
            <a:ext cx="2412717" cy="816750"/>
            <a:chOff x="0" y="0"/>
            <a:chExt cx="776495" cy="26285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6495" cy="262858"/>
            </a:xfrm>
            <a:custGeom>
              <a:avLst/>
              <a:gdLst/>
              <a:ahLst/>
              <a:cxnLst/>
              <a:rect r="r" b="b" t="t" l="l"/>
              <a:pathLst>
                <a:path h="262858" w="776495">
                  <a:moveTo>
                    <a:pt x="131429" y="0"/>
                  </a:moveTo>
                  <a:lnTo>
                    <a:pt x="645066" y="0"/>
                  </a:lnTo>
                  <a:cubicBezTo>
                    <a:pt x="679923" y="0"/>
                    <a:pt x="713352" y="13847"/>
                    <a:pt x="738000" y="38495"/>
                  </a:cubicBezTo>
                  <a:cubicBezTo>
                    <a:pt x="762648" y="63142"/>
                    <a:pt x="776495" y="96572"/>
                    <a:pt x="776495" y="131429"/>
                  </a:cubicBezTo>
                  <a:lnTo>
                    <a:pt x="776495" y="131429"/>
                  </a:lnTo>
                  <a:cubicBezTo>
                    <a:pt x="776495" y="204015"/>
                    <a:pt x="717652" y="262858"/>
                    <a:pt x="645066" y="262858"/>
                  </a:cubicBezTo>
                  <a:lnTo>
                    <a:pt x="131429" y="262858"/>
                  </a:lnTo>
                  <a:cubicBezTo>
                    <a:pt x="96572" y="262858"/>
                    <a:pt x="63142" y="249011"/>
                    <a:pt x="38495" y="224363"/>
                  </a:cubicBezTo>
                  <a:cubicBezTo>
                    <a:pt x="13847" y="199716"/>
                    <a:pt x="0" y="166286"/>
                    <a:pt x="0" y="131429"/>
                  </a:cubicBezTo>
                  <a:lnTo>
                    <a:pt x="0" y="131429"/>
                  </a:lnTo>
                  <a:cubicBezTo>
                    <a:pt x="0" y="96572"/>
                    <a:pt x="13847" y="63142"/>
                    <a:pt x="38495" y="38495"/>
                  </a:cubicBezTo>
                  <a:cubicBezTo>
                    <a:pt x="63142" y="13847"/>
                    <a:pt x="96572" y="0"/>
                    <a:pt x="131429" y="0"/>
                  </a:cubicBezTo>
                  <a:close/>
                </a:path>
              </a:pathLst>
            </a:custGeom>
            <a:solidFill>
              <a:srgbClr val="D4C4B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776495" cy="310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97982" y="2366671"/>
            <a:ext cx="2519252" cy="819358"/>
            <a:chOff x="0" y="0"/>
            <a:chExt cx="808201" cy="26285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8201" cy="262858"/>
            </a:xfrm>
            <a:custGeom>
              <a:avLst/>
              <a:gdLst/>
              <a:ahLst/>
              <a:cxnLst/>
              <a:rect r="r" b="b" t="t" l="l"/>
              <a:pathLst>
                <a:path h="262858" w="808201">
                  <a:moveTo>
                    <a:pt x="131429" y="0"/>
                  </a:moveTo>
                  <a:lnTo>
                    <a:pt x="676772" y="0"/>
                  </a:lnTo>
                  <a:cubicBezTo>
                    <a:pt x="711629" y="0"/>
                    <a:pt x="745058" y="13847"/>
                    <a:pt x="769706" y="38495"/>
                  </a:cubicBezTo>
                  <a:cubicBezTo>
                    <a:pt x="794354" y="63142"/>
                    <a:pt x="808201" y="96572"/>
                    <a:pt x="808201" y="131429"/>
                  </a:cubicBezTo>
                  <a:lnTo>
                    <a:pt x="808201" y="131429"/>
                  </a:lnTo>
                  <a:cubicBezTo>
                    <a:pt x="808201" y="204015"/>
                    <a:pt x="749358" y="262858"/>
                    <a:pt x="676772" y="262858"/>
                  </a:cubicBezTo>
                  <a:lnTo>
                    <a:pt x="131429" y="262858"/>
                  </a:lnTo>
                  <a:cubicBezTo>
                    <a:pt x="96572" y="262858"/>
                    <a:pt x="63142" y="249011"/>
                    <a:pt x="38495" y="224363"/>
                  </a:cubicBezTo>
                  <a:cubicBezTo>
                    <a:pt x="13847" y="199716"/>
                    <a:pt x="0" y="166286"/>
                    <a:pt x="0" y="131429"/>
                  </a:cubicBezTo>
                  <a:lnTo>
                    <a:pt x="0" y="131429"/>
                  </a:lnTo>
                  <a:cubicBezTo>
                    <a:pt x="0" y="96572"/>
                    <a:pt x="13847" y="63142"/>
                    <a:pt x="38495" y="38495"/>
                  </a:cubicBezTo>
                  <a:cubicBezTo>
                    <a:pt x="63142" y="13847"/>
                    <a:pt x="96572" y="0"/>
                    <a:pt x="131429" y="0"/>
                  </a:cubicBezTo>
                  <a:close/>
                </a:path>
              </a:pathLst>
            </a:custGeom>
            <a:solidFill>
              <a:srgbClr val="D4C4B7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08201" cy="310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327381" y="1950673"/>
            <a:ext cx="2864768" cy="656292"/>
          </a:xfrm>
          <a:custGeom>
            <a:avLst/>
            <a:gdLst/>
            <a:ahLst/>
            <a:cxnLst/>
            <a:rect r="r" b="b" t="t" l="l"/>
            <a:pathLst>
              <a:path h="656292" w="2864768">
                <a:moveTo>
                  <a:pt x="0" y="0"/>
                </a:moveTo>
                <a:lnTo>
                  <a:pt x="2864768" y="0"/>
                </a:lnTo>
                <a:lnTo>
                  <a:pt x="2864768" y="656293"/>
                </a:lnTo>
                <a:lnTo>
                  <a:pt x="0" y="656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0" id="50"/>
          <p:cNvSpPr/>
          <p:nvPr/>
        </p:nvSpPr>
        <p:spPr>
          <a:xfrm flipH="false" flipV="false" rot="0">
            <a:off x="4021718" y="6518119"/>
            <a:ext cx="2697216" cy="617908"/>
          </a:xfrm>
          <a:custGeom>
            <a:avLst/>
            <a:gdLst/>
            <a:ahLst/>
            <a:cxnLst/>
            <a:rect r="r" b="b" t="t" l="l"/>
            <a:pathLst>
              <a:path h="617908" w="2697216">
                <a:moveTo>
                  <a:pt x="0" y="0"/>
                </a:moveTo>
                <a:lnTo>
                  <a:pt x="2697216" y="0"/>
                </a:lnTo>
                <a:lnTo>
                  <a:pt x="2697216" y="617907"/>
                </a:lnTo>
                <a:lnTo>
                  <a:pt x="0" y="617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8585628" y="3955397"/>
            <a:ext cx="2697216" cy="617908"/>
          </a:xfrm>
          <a:custGeom>
            <a:avLst/>
            <a:gdLst/>
            <a:ahLst/>
            <a:cxnLst/>
            <a:rect r="r" b="b" t="t" l="l"/>
            <a:pathLst>
              <a:path h="617908" w="2697216">
                <a:moveTo>
                  <a:pt x="0" y="0"/>
                </a:moveTo>
                <a:lnTo>
                  <a:pt x="2697216" y="0"/>
                </a:lnTo>
                <a:lnTo>
                  <a:pt x="2697216" y="617907"/>
                </a:lnTo>
                <a:lnTo>
                  <a:pt x="0" y="6179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75466" y="4605447"/>
            <a:ext cx="2697216" cy="617908"/>
          </a:xfrm>
          <a:custGeom>
            <a:avLst/>
            <a:gdLst/>
            <a:ahLst/>
            <a:cxnLst/>
            <a:rect r="r" b="b" t="t" l="l"/>
            <a:pathLst>
              <a:path h="617908" w="2697216">
                <a:moveTo>
                  <a:pt x="0" y="0"/>
                </a:moveTo>
                <a:lnTo>
                  <a:pt x="2697216" y="0"/>
                </a:lnTo>
                <a:lnTo>
                  <a:pt x="2697216" y="617908"/>
                </a:lnTo>
                <a:lnTo>
                  <a:pt x="0" y="6179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3" id="53"/>
          <p:cNvGrpSpPr/>
          <p:nvPr/>
        </p:nvGrpSpPr>
        <p:grpSpPr>
          <a:xfrm rot="0">
            <a:off x="14548644" y="3731876"/>
            <a:ext cx="514465" cy="488670"/>
            <a:chOff x="0" y="0"/>
            <a:chExt cx="685953" cy="651561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685953" cy="651561"/>
              <a:chOff x="0" y="0"/>
              <a:chExt cx="855703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557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703">
                    <a:moveTo>
                      <a:pt x="427852" y="0"/>
                    </a:moveTo>
                    <a:cubicBezTo>
                      <a:pt x="191556" y="0"/>
                      <a:pt x="0" y="181951"/>
                      <a:pt x="0" y="406400"/>
                    </a:cubicBezTo>
                    <a:cubicBezTo>
                      <a:pt x="0" y="630849"/>
                      <a:pt x="191556" y="812800"/>
                      <a:pt x="427852" y="812800"/>
                    </a:cubicBezTo>
                    <a:cubicBezTo>
                      <a:pt x="664147" y="812800"/>
                      <a:pt x="855703" y="630849"/>
                      <a:pt x="855703" y="406400"/>
                    </a:cubicBezTo>
                    <a:cubicBezTo>
                      <a:pt x="855703" y="181951"/>
                      <a:pt x="664147" y="0"/>
                      <a:pt x="42785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80222" y="19050"/>
                <a:ext cx="695259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239807" y="8504"/>
              <a:ext cx="206339" cy="577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b="true" sz="2582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579898" y="5533326"/>
            <a:ext cx="514465" cy="488670"/>
            <a:chOff x="0" y="0"/>
            <a:chExt cx="685953" cy="651561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685953" cy="651561"/>
              <a:chOff x="0" y="0"/>
              <a:chExt cx="855703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557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703">
                    <a:moveTo>
                      <a:pt x="427852" y="0"/>
                    </a:moveTo>
                    <a:cubicBezTo>
                      <a:pt x="191556" y="0"/>
                      <a:pt x="0" y="181951"/>
                      <a:pt x="0" y="406400"/>
                    </a:cubicBezTo>
                    <a:cubicBezTo>
                      <a:pt x="0" y="630849"/>
                      <a:pt x="191556" y="812800"/>
                      <a:pt x="427852" y="812800"/>
                    </a:cubicBezTo>
                    <a:cubicBezTo>
                      <a:pt x="664147" y="812800"/>
                      <a:pt x="855703" y="630849"/>
                      <a:pt x="855703" y="406400"/>
                    </a:cubicBezTo>
                    <a:cubicBezTo>
                      <a:pt x="855703" y="181951"/>
                      <a:pt x="664147" y="0"/>
                      <a:pt x="42785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80222" y="19050"/>
                <a:ext cx="695259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208071" y="8504"/>
              <a:ext cx="269810" cy="577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sz="2582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588432" y="7522257"/>
            <a:ext cx="514465" cy="488670"/>
            <a:chOff x="0" y="0"/>
            <a:chExt cx="685953" cy="651561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0" y="0"/>
              <a:ext cx="685953" cy="651561"/>
              <a:chOff x="0" y="0"/>
              <a:chExt cx="855703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557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703">
                    <a:moveTo>
                      <a:pt x="427852" y="0"/>
                    </a:moveTo>
                    <a:cubicBezTo>
                      <a:pt x="191556" y="0"/>
                      <a:pt x="0" y="181951"/>
                      <a:pt x="0" y="406400"/>
                    </a:cubicBezTo>
                    <a:cubicBezTo>
                      <a:pt x="0" y="630849"/>
                      <a:pt x="191556" y="812800"/>
                      <a:pt x="427852" y="812800"/>
                    </a:cubicBezTo>
                    <a:cubicBezTo>
                      <a:pt x="664147" y="812800"/>
                      <a:pt x="855703" y="630849"/>
                      <a:pt x="855703" y="406400"/>
                    </a:cubicBezTo>
                    <a:cubicBezTo>
                      <a:pt x="855703" y="181951"/>
                      <a:pt x="664147" y="0"/>
                      <a:pt x="42785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80222" y="19050"/>
                <a:ext cx="695259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203686" y="8504"/>
              <a:ext cx="278581" cy="577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sz="2582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579898" y="9437320"/>
            <a:ext cx="514465" cy="488670"/>
            <a:chOff x="0" y="0"/>
            <a:chExt cx="685953" cy="651561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685953" cy="651561"/>
              <a:chOff x="0" y="0"/>
              <a:chExt cx="855703" cy="8128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557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703">
                    <a:moveTo>
                      <a:pt x="427852" y="0"/>
                    </a:moveTo>
                    <a:cubicBezTo>
                      <a:pt x="191556" y="0"/>
                      <a:pt x="0" y="181951"/>
                      <a:pt x="0" y="406400"/>
                    </a:cubicBezTo>
                    <a:cubicBezTo>
                      <a:pt x="0" y="630849"/>
                      <a:pt x="191556" y="812800"/>
                      <a:pt x="427852" y="812800"/>
                    </a:cubicBezTo>
                    <a:cubicBezTo>
                      <a:pt x="664147" y="812800"/>
                      <a:pt x="855703" y="630849"/>
                      <a:pt x="855703" y="406400"/>
                    </a:cubicBezTo>
                    <a:cubicBezTo>
                      <a:pt x="855703" y="181951"/>
                      <a:pt x="664147" y="0"/>
                      <a:pt x="42785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80222" y="19050"/>
                <a:ext cx="695259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198839" y="8504"/>
              <a:ext cx="288274" cy="577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5"/>
                </a:lnSpc>
              </a:pPr>
              <a:r>
                <a:rPr lang="en-US" sz="2582" b="true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4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4057679" y="2516589"/>
            <a:ext cx="3234585" cy="249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2034" indent="-136017" lvl="1">
              <a:lnSpc>
                <a:spcPts val="1575"/>
              </a:lnSpc>
              <a:buFont typeface="Arial"/>
              <a:buChar char="•"/>
            </a:pPr>
            <a:r>
              <a:rPr lang="en-US" b="true" sz="126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Technical:</a:t>
            </a:r>
            <a:r>
              <a:rPr lang="en-US" sz="126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 Banana pulp produces packaging 3x stronger than wood pulp with superior tear resistance. </a:t>
            </a:r>
          </a:p>
          <a:p>
            <a:pPr algn="l" marL="272034" indent="-136017" lvl="1">
              <a:lnSpc>
                <a:spcPts val="1575"/>
              </a:lnSpc>
              <a:buFont typeface="Arial"/>
              <a:buChar char="•"/>
            </a:pPr>
            <a:r>
              <a:rPr lang="en-US" b="true" sz="126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Operational: </a:t>
            </a:r>
            <a:r>
              <a:rPr lang="en-US" sz="126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100% circular model; leftover pulp from textile extraction directly feeds into packaging molds. </a:t>
            </a:r>
          </a:p>
          <a:p>
            <a:pPr algn="l" marL="272034" indent="-136017" lvl="1">
              <a:lnSpc>
                <a:spcPts val="1575"/>
              </a:lnSpc>
              <a:buFont typeface="Arial"/>
              <a:buChar char="•"/>
            </a:pPr>
            <a:r>
              <a:rPr lang="en-US" b="true" sz="126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Economic: </a:t>
            </a:r>
            <a:r>
              <a:rPr lang="en-US" sz="126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Banana pulp is significantly more cost-effective to produce than traditional plastic or paper packaging.</a:t>
            </a:r>
          </a:p>
          <a:p>
            <a:pPr algn="l">
              <a:lnSpc>
                <a:spcPts val="1575"/>
              </a:lnSpc>
            </a:pPr>
          </a:p>
          <a:p>
            <a:pPr algn="l">
              <a:lnSpc>
                <a:spcPts val="1575"/>
              </a:lnSpc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3801109" y="7086711"/>
            <a:ext cx="3082254" cy="226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6136" indent="-128068" lvl="1">
              <a:lnSpc>
                <a:spcPts val="1482"/>
              </a:lnSpc>
              <a:buFont typeface="Arial"/>
              <a:buChar char="•"/>
            </a:pPr>
            <a:r>
              <a:rPr lang="en-US" b="true" sz="1186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Vast Raw Material:</a:t>
            </a:r>
            <a:r>
              <a:rPr lang="en-US" sz="1186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 India generates ~30M tons of pseudo-stem waste annually, providing near-free raw material. </a:t>
            </a:r>
          </a:p>
          <a:p>
            <a:pPr algn="l" marL="256136" indent="-128068" lvl="1">
              <a:lnSpc>
                <a:spcPts val="1482"/>
              </a:lnSpc>
              <a:buFont typeface="Arial"/>
              <a:buChar char="•"/>
            </a:pPr>
            <a:r>
              <a:rPr lang="en-US" b="true" sz="1186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Proven Model:</a:t>
            </a:r>
            <a:r>
              <a:rPr lang="en-US" sz="1186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 Similar banana-fibre businesses (e.g., Musa Pacta) process 12-13 tons/month profitably. </a:t>
            </a:r>
          </a:p>
          <a:p>
            <a:pPr algn="l" marL="256136" indent="-128068" lvl="1">
              <a:lnSpc>
                <a:spcPts val="1482"/>
              </a:lnSpc>
              <a:buFont typeface="Arial"/>
              <a:buChar char="•"/>
            </a:pPr>
            <a:r>
              <a:rPr lang="en-US" b="true" sz="1186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B2B Expansion: </a:t>
            </a:r>
            <a:r>
              <a:rPr lang="en-US" sz="1186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Huge potential to sell our low-cost banana pulp packaging directly to other businesses (B2B). </a:t>
            </a:r>
          </a:p>
          <a:p>
            <a:pPr algn="l">
              <a:lnSpc>
                <a:spcPts val="1482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2167000" y="3826232"/>
            <a:ext cx="307653" cy="4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676">
                <a:solidFill>
                  <a:srgbClr val="8B3A3A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3292825" y="4785924"/>
            <a:ext cx="307653" cy="4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676">
                <a:solidFill>
                  <a:srgbClr val="8B3A3A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23714" y="5833970"/>
            <a:ext cx="307653" cy="4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676">
                <a:solidFill>
                  <a:srgbClr val="8B3A3A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46170" y="7911204"/>
            <a:ext cx="307653" cy="4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</a:pPr>
            <a:r>
              <a:rPr lang="en-US" sz="2676">
                <a:solidFill>
                  <a:srgbClr val="8B3A3A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26699" y="4569405"/>
            <a:ext cx="1947954" cy="4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sz="2751">
                <a:solidFill>
                  <a:srgbClr val="333333"/>
                </a:solidFill>
                <a:latin typeface="Carter One"/>
                <a:ea typeface="Carter One"/>
                <a:cs typeface="Carter One"/>
                <a:sym typeface="Carter One"/>
              </a:rPr>
              <a:t>Challenges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385587" y="6543672"/>
            <a:ext cx="1816876" cy="4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sz="2751">
                <a:solidFill>
                  <a:srgbClr val="333333"/>
                </a:solidFill>
                <a:latin typeface="Carter One"/>
                <a:ea typeface="Carter One"/>
                <a:cs typeface="Carter One"/>
                <a:sym typeface="Carter One"/>
              </a:rPr>
              <a:t>Viability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058257" y="3945594"/>
            <a:ext cx="1816876" cy="4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1"/>
              </a:lnSpc>
              <a:spcBef>
                <a:spcPct val="0"/>
              </a:spcBef>
            </a:pPr>
            <a:r>
              <a:rPr lang="en-US" sz="2751" strike="noStrike" u="none">
                <a:solidFill>
                  <a:srgbClr val="333333"/>
                </a:solidFill>
                <a:latin typeface="Carter One"/>
                <a:ea typeface="Carter One"/>
                <a:cs typeface="Carter One"/>
                <a:sym typeface="Carter One"/>
              </a:rPr>
              <a:t>Scalability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097982" y="1522697"/>
            <a:ext cx="5818011" cy="77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1"/>
              </a:lnSpc>
            </a:pPr>
            <a:r>
              <a:rPr lang="en-US" sz="4551">
                <a:solidFill>
                  <a:srgbClr val="592020"/>
                </a:solidFill>
                <a:latin typeface="Carter One"/>
                <a:ea typeface="Carter One"/>
                <a:cs typeface="Carter One"/>
                <a:sym typeface="Carter One"/>
              </a:rPr>
              <a:t>RISK VS SOLUTION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208605" y="2340149"/>
            <a:ext cx="2132871" cy="6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871"/>
              </a:lnSpc>
              <a:spcBef>
                <a:spcPct val="0"/>
              </a:spcBef>
            </a:pPr>
            <a:r>
              <a:rPr lang="en-US" b="true" sz="3479" strike="noStrike" u="none">
                <a:solidFill>
                  <a:srgbClr val="333333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186553" y="2361889"/>
            <a:ext cx="2362091" cy="66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7"/>
              </a:lnSpc>
            </a:pPr>
            <a:r>
              <a:rPr lang="en-US" b="true" sz="3333">
                <a:solidFill>
                  <a:srgbClr val="333333"/>
                </a:solidFill>
                <a:latin typeface="Agrandir Bold"/>
                <a:ea typeface="Agrandir Bold"/>
                <a:cs typeface="Agrandir Bold"/>
                <a:sym typeface="Agrandir Bold"/>
              </a:rPr>
              <a:t>Risk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89" id="89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75612" y="421580"/>
            <a:ext cx="1820394" cy="1186842"/>
            <a:chOff x="0" y="0"/>
            <a:chExt cx="2554516" cy="1665468"/>
          </a:xfrm>
        </p:grpSpPr>
        <p:sp>
          <p:nvSpPr>
            <p:cNvPr name="Freeform 91" id="91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 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4715142" y="1980973"/>
            <a:ext cx="1816876" cy="47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sz="2751">
                <a:solidFill>
                  <a:srgbClr val="333333"/>
                </a:solidFill>
                <a:latin typeface="Carter One"/>
                <a:ea typeface="Carter One"/>
                <a:cs typeface="Carter One"/>
                <a:sym typeface="Carter One"/>
              </a:rPr>
              <a:t>Feasibilty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5941" y="5225808"/>
            <a:ext cx="2616015" cy="310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2961" indent="-141480" lvl="1">
              <a:lnSpc>
                <a:spcPts val="1638"/>
              </a:lnSpc>
              <a:buFont typeface="Arial"/>
              <a:buChar char="•"/>
            </a:pPr>
            <a:r>
              <a:rPr lang="en-US" b="true" sz="131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•Initial Setup Cost: </a:t>
            </a:r>
            <a:r>
              <a:rPr lang="en-US" sz="131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High capital required to eventually build an in-house pulp molding lab.</a:t>
            </a:r>
          </a:p>
          <a:p>
            <a:pPr algn="l" marL="282961" indent="-141480" lvl="1">
              <a:lnSpc>
                <a:spcPts val="1638"/>
              </a:lnSpc>
              <a:buFont typeface="Arial"/>
              <a:buChar char="•"/>
            </a:pPr>
            <a:r>
              <a:rPr lang="en-US" b="true" sz="131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Durability Doubts: </a:t>
            </a:r>
            <a:r>
              <a:rPr lang="en-US" sz="131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Convincing B2B buyers that bio-packaging matches plastic's strength.</a:t>
            </a:r>
          </a:p>
          <a:p>
            <a:pPr algn="l" marL="282961" indent="-141480" lvl="1">
              <a:lnSpc>
                <a:spcPts val="1638"/>
              </a:lnSpc>
              <a:buFont typeface="Arial"/>
              <a:buChar char="•"/>
            </a:pPr>
            <a:r>
              <a:rPr lang="en-US" b="true" sz="1310">
                <a:solidFill>
                  <a:srgbClr val="101010"/>
                </a:solidFill>
                <a:latin typeface="Biski Bold"/>
                <a:ea typeface="Biski Bold"/>
                <a:cs typeface="Biski Bold"/>
                <a:sym typeface="Biski Bold"/>
              </a:rPr>
              <a:t>Transport Logistics: </a:t>
            </a:r>
            <a:r>
              <a:rPr lang="en-US" sz="1310">
                <a:solidFill>
                  <a:srgbClr val="101010"/>
                </a:solidFill>
                <a:latin typeface="Biski"/>
                <a:ea typeface="Biski"/>
                <a:cs typeface="Biski"/>
                <a:sym typeface="Biski"/>
              </a:rPr>
              <a:t>Efficiently transporting heavy, wet pseudo-stems from farms to processing units.</a:t>
            </a:r>
          </a:p>
          <a:p>
            <a:pPr algn="l">
              <a:lnSpc>
                <a:spcPts val="1638"/>
              </a:lnSpc>
            </a:pPr>
          </a:p>
          <a:p>
            <a:pPr algn="l">
              <a:lnSpc>
                <a:spcPts val="163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6542" y="12592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1729951" y="495019"/>
            <a:ext cx="1415938" cy="3880084"/>
            <a:chOff x="0" y="0"/>
            <a:chExt cx="353165" cy="9677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3165" cy="967776"/>
            </a:xfrm>
            <a:custGeom>
              <a:avLst/>
              <a:gdLst/>
              <a:ahLst/>
              <a:cxnLst/>
              <a:rect r="r" b="b" t="t" l="l"/>
              <a:pathLst>
                <a:path h="967776" w="353165">
                  <a:moveTo>
                    <a:pt x="117785" y="948706"/>
                  </a:moveTo>
                  <a:cubicBezTo>
                    <a:pt x="135891" y="960220"/>
                    <a:pt x="156475" y="967776"/>
                    <a:pt x="176678" y="967776"/>
                  </a:cubicBezTo>
                  <a:cubicBezTo>
                    <a:pt x="196881" y="967776"/>
                    <a:pt x="216321" y="961298"/>
                    <a:pt x="234236" y="949785"/>
                  </a:cubicBezTo>
                  <a:cubicBezTo>
                    <a:pt x="234618" y="949425"/>
                    <a:pt x="234999" y="949425"/>
                    <a:pt x="235380" y="949066"/>
                  </a:cubicBezTo>
                  <a:cubicBezTo>
                    <a:pt x="302658" y="903011"/>
                    <a:pt x="352212" y="781397"/>
                    <a:pt x="353165" y="635831"/>
                  </a:cubicBezTo>
                  <a:lnTo>
                    <a:pt x="353165" y="0"/>
                  </a:lnTo>
                  <a:lnTo>
                    <a:pt x="0" y="0"/>
                  </a:lnTo>
                  <a:lnTo>
                    <a:pt x="0" y="635359"/>
                  </a:lnTo>
                  <a:cubicBezTo>
                    <a:pt x="953" y="782115"/>
                    <a:pt x="49744" y="903731"/>
                    <a:pt x="117785" y="948706"/>
                  </a:cubicBezTo>
                  <a:close/>
                </a:path>
              </a:pathLst>
            </a:custGeom>
            <a:solidFill>
              <a:srgbClr val="D8CBC4">
                <a:alpha val="61961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53165" cy="850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5684487" y="420567"/>
            <a:ext cx="1427078" cy="4040128"/>
            <a:chOff x="0" y="0"/>
            <a:chExt cx="353165" cy="9998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3165" cy="999828"/>
            </a:xfrm>
            <a:custGeom>
              <a:avLst/>
              <a:gdLst/>
              <a:ahLst/>
              <a:cxnLst/>
              <a:rect r="r" b="b" t="t" l="l"/>
              <a:pathLst>
                <a:path h="999828" w="353165">
                  <a:moveTo>
                    <a:pt x="117785" y="980759"/>
                  </a:moveTo>
                  <a:cubicBezTo>
                    <a:pt x="135891" y="992273"/>
                    <a:pt x="156475" y="999828"/>
                    <a:pt x="176678" y="999828"/>
                  </a:cubicBezTo>
                  <a:cubicBezTo>
                    <a:pt x="196881" y="999828"/>
                    <a:pt x="216321" y="993351"/>
                    <a:pt x="234236" y="981837"/>
                  </a:cubicBezTo>
                  <a:cubicBezTo>
                    <a:pt x="234618" y="981478"/>
                    <a:pt x="234999" y="981478"/>
                    <a:pt x="235380" y="981118"/>
                  </a:cubicBezTo>
                  <a:cubicBezTo>
                    <a:pt x="302658" y="935063"/>
                    <a:pt x="352212" y="813449"/>
                    <a:pt x="353165" y="667171"/>
                  </a:cubicBezTo>
                  <a:lnTo>
                    <a:pt x="353165" y="0"/>
                  </a:lnTo>
                  <a:lnTo>
                    <a:pt x="0" y="0"/>
                  </a:lnTo>
                  <a:lnTo>
                    <a:pt x="0" y="666676"/>
                  </a:lnTo>
                  <a:cubicBezTo>
                    <a:pt x="953" y="814168"/>
                    <a:pt x="49744" y="935783"/>
                    <a:pt x="117785" y="980759"/>
                  </a:cubicBezTo>
                  <a:close/>
                </a:path>
              </a:pathLst>
            </a:custGeom>
            <a:solidFill>
              <a:srgbClr val="7B624F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53165" cy="882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7878" y="2567928"/>
            <a:ext cx="1880491" cy="18804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5795" y="2674967"/>
            <a:ext cx="1684657" cy="168465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6542" y="2851907"/>
            <a:ext cx="1331090" cy="1321265"/>
            <a:chOff x="0" y="0"/>
            <a:chExt cx="812800" cy="806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06800"/>
            </a:xfrm>
            <a:custGeom>
              <a:avLst/>
              <a:gdLst/>
              <a:ahLst/>
              <a:cxnLst/>
              <a:rect r="r" b="b" t="t" l="l"/>
              <a:pathLst>
                <a:path h="806800" w="812800">
                  <a:moveTo>
                    <a:pt x="406400" y="0"/>
                  </a:moveTo>
                  <a:cubicBezTo>
                    <a:pt x="181951" y="0"/>
                    <a:pt x="0" y="180608"/>
                    <a:pt x="0" y="403400"/>
                  </a:cubicBezTo>
                  <a:cubicBezTo>
                    <a:pt x="0" y="626192"/>
                    <a:pt x="181951" y="806800"/>
                    <a:pt x="406400" y="806800"/>
                  </a:cubicBezTo>
                  <a:cubicBezTo>
                    <a:pt x="630849" y="806800"/>
                    <a:pt x="812800" y="626192"/>
                    <a:pt x="812800" y="403400"/>
                  </a:cubicBezTo>
                  <a:cubicBezTo>
                    <a:pt x="812800" y="18060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66113"/>
              <a:ext cx="660400" cy="66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95786" y="5124595"/>
            <a:ext cx="248467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2189928" y="7400221"/>
            <a:ext cx="4376069" cy="37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938309" y="7400221"/>
            <a:ext cx="4273414" cy="376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7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2953" y="3298498"/>
            <a:ext cx="1747499" cy="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  <a:spcBef>
                <a:spcPct val="0"/>
              </a:spcBef>
            </a:pPr>
            <a:r>
              <a:rPr lang="en-US" b="true" sz="1399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Environmental Sustainability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5786" y="4886642"/>
            <a:ext cx="2615054" cy="365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471" indent="-233735" lvl="1">
              <a:lnSpc>
                <a:spcPts val="2693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 Banana fabric is used </a:t>
            </a:r>
          </a:p>
          <a:p>
            <a:pPr algn="l" marL="467471" indent="-233735" lvl="1">
              <a:lnSpc>
                <a:spcPts val="2693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Water-based/natural dyes</a:t>
            </a:r>
          </a:p>
          <a:p>
            <a:pPr algn="l" marL="467471" indent="-233735" lvl="1">
              <a:lnSpc>
                <a:spcPts val="2693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Paint-to-order so nearly zero waste</a:t>
            </a:r>
          </a:p>
          <a:p>
            <a:pPr algn="l" marL="467471" indent="-233735" lvl="1">
              <a:lnSpc>
                <a:spcPts val="2693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Minimum packaging using banana pulp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47379" y="4638675"/>
            <a:ext cx="2696143" cy="387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Women-led, home-based work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Flexible hours mean increased participation.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Skill ownership-not dependency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Fair &amp; transparent payments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23702" y="7710293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6099440" y="4860340"/>
            <a:ext cx="3201614" cy="316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 Revenue-generating business model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 Repeat-use products are there so repeat income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 Profit reinvestment for scale</a:t>
            </a:r>
          </a:p>
          <a:p>
            <a:pPr algn="l" marL="489137" indent="-244568" lvl="1">
              <a:lnSpc>
                <a:spcPts val="2818"/>
              </a:lnSpc>
              <a:buFont typeface="Arial"/>
              <a:buChar char="•"/>
            </a:pPr>
            <a:r>
              <a:rPr lang="en-US" sz="2265" strike="noStrike" u="none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  No reliance on donations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445643" y="2674967"/>
            <a:ext cx="1872565" cy="187256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535634" y="2774080"/>
            <a:ext cx="1684657" cy="1684657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716380" y="2951021"/>
            <a:ext cx="1331090" cy="1321265"/>
            <a:chOff x="0" y="0"/>
            <a:chExt cx="812800" cy="806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06800"/>
            </a:xfrm>
            <a:custGeom>
              <a:avLst/>
              <a:gdLst/>
              <a:ahLst/>
              <a:cxnLst/>
              <a:rect r="r" b="b" t="t" l="l"/>
              <a:pathLst>
                <a:path h="806800" w="812800">
                  <a:moveTo>
                    <a:pt x="406400" y="0"/>
                  </a:moveTo>
                  <a:cubicBezTo>
                    <a:pt x="181951" y="0"/>
                    <a:pt x="0" y="180608"/>
                    <a:pt x="0" y="403400"/>
                  </a:cubicBezTo>
                  <a:cubicBezTo>
                    <a:pt x="0" y="626192"/>
                    <a:pt x="181951" y="806800"/>
                    <a:pt x="406400" y="806800"/>
                  </a:cubicBezTo>
                  <a:cubicBezTo>
                    <a:pt x="630849" y="806800"/>
                    <a:pt x="812800" y="626192"/>
                    <a:pt x="812800" y="403400"/>
                  </a:cubicBezTo>
                  <a:cubicBezTo>
                    <a:pt x="812800" y="18060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66113"/>
              <a:ext cx="660400" cy="66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708454" y="3354195"/>
            <a:ext cx="1339016" cy="49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622" b="true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Social</a:t>
            </a:r>
          </a:p>
          <a:p>
            <a:pPr algn="ctr">
              <a:lnSpc>
                <a:spcPts val="2017"/>
              </a:lnSpc>
              <a:spcBef>
                <a:spcPct val="0"/>
              </a:spcBef>
            </a:pPr>
            <a:r>
              <a:rPr lang="en-US" b="true" sz="1622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Sustainability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754883" y="2680126"/>
            <a:ext cx="1872565" cy="1872565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844875" y="2779239"/>
            <a:ext cx="1684657" cy="1684657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025621" y="2956180"/>
            <a:ext cx="1331090" cy="1321265"/>
            <a:chOff x="0" y="0"/>
            <a:chExt cx="812800" cy="806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06800"/>
            </a:xfrm>
            <a:custGeom>
              <a:avLst/>
              <a:gdLst/>
              <a:ahLst/>
              <a:cxnLst/>
              <a:rect r="r" b="b" t="t" l="l"/>
              <a:pathLst>
                <a:path h="806800" w="812800">
                  <a:moveTo>
                    <a:pt x="406400" y="0"/>
                  </a:moveTo>
                  <a:cubicBezTo>
                    <a:pt x="181951" y="0"/>
                    <a:pt x="0" y="180608"/>
                    <a:pt x="0" y="403400"/>
                  </a:cubicBezTo>
                  <a:cubicBezTo>
                    <a:pt x="0" y="626192"/>
                    <a:pt x="181951" y="806800"/>
                    <a:pt x="406400" y="806800"/>
                  </a:cubicBezTo>
                  <a:cubicBezTo>
                    <a:pt x="630849" y="806800"/>
                    <a:pt x="812800" y="626192"/>
                    <a:pt x="812800" y="403400"/>
                  </a:cubicBezTo>
                  <a:cubicBezTo>
                    <a:pt x="812800" y="18060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66113"/>
              <a:ext cx="660400" cy="665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760001" y="3368925"/>
            <a:ext cx="1880491" cy="49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  <a:spcBef>
                <a:spcPct val="0"/>
              </a:spcBef>
            </a:pPr>
            <a:r>
              <a:rPr lang="en-US" b="true" sz="1622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Economic </a:t>
            </a:r>
            <a:r>
              <a:rPr lang="en-US" b="true" sz="1622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Sustainability</a:t>
            </a:r>
          </a:p>
        </p:txBody>
      </p:sp>
      <p:sp>
        <p:nvSpPr>
          <p:cNvPr name="AutoShape 62" id="62"/>
          <p:cNvSpPr/>
          <p:nvPr/>
        </p:nvSpPr>
        <p:spPr>
          <a:xfrm flipV="true">
            <a:off x="9689058" y="1644363"/>
            <a:ext cx="0" cy="7316341"/>
          </a:xfrm>
          <a:prstGeom prst="line">
            <a:avLst/>
          </a:prstGeom>
          <a:ln cap="flat" w="38100">
            <a:solidFill>
              <a:srgbClr val="74503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63" id="63"/>
          <p:cNvSpPr/>
          <p:nvPr/>
        </p:nvSpPr>
        <p:spPr>
          <a:xfrm flipH="false" flipV="false" rot="0">
            <a:off x="10063983" y="1644363"/>
            <a:ext cx="2273188" cy="999505"/>
          </a:xfrm>
          <a:custGeom>
            <a:avLst/>
            <a:gdLst/>
            <a:ahLst/>
            <a:cxnLst/>
            <a:rect r="r" b="b" t="t" l="l"/>
            <a:pathLst>
              <a:path h="999505" w="2273188">
                <a:moveTo>
                  <a:pt x="0" y="0"/>
                </a:moveTo>
                <a:lnTo>
                  <a:pt x="2273188" y="0"/>
                </a:lnTo>
                <a:lnTo>
                  <a:pt x="2273188" y="999505"/>
                </a:lnTo>
                <a:lnTo>
                  <a:pt x="0" y="99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697956" y="1644363"/>
            <a:ext cx="2273188" cy="999505"/>
          </a:xfrm>
          <a:custGeom>
            <a:avLst/>
            <a:gdLst/>
            <a:ahLst/>
            <a:cxnLst/>
            <a:rect r="r" b="b" t="t" l="l"/>
            <a:pathLst>
              <a:path h="999505" w="2273188">
                <a:moveTo>
                  <a:pt x="0" y="0"/>
                </a:moveTo>
                <a:lnTo>
                  <a:pt x="2273188" y="0"/>
                </a:lnTo>
                <a:lnTo>
                  <a:pt x="2273188" y="999505"/>
                </a:lnTo>
                <a:lnTo>
                  <a:pt x="0" y="99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5470206" y="1644363"/>
            <a:ext cx="2272821" cy="999344"/>
          </a:xfrm>
          <a:custGeom>
            <a:avLst/>
            <a:gdLst/>
            <a:ahLst/>
            <a:cxnLst/>
            <a:rect r="r" b="b" t="t" l="l"/>
            <a:pathLst>
              <a:path h="999344" w="2272821">
                <a:moveTo>
                  <a:pt x="0" y="0"/>
                </a:moveTo>
                <a:lnTo>
                  <a:pt x="2272822" y="0"/>
                </a:lnTo>
                <a:lnTo>
                  <a:pt x="2272822" y="999344"/>
                </a:lnTo>
                <a:lnTo>
                  <a:pt x="0" y="9993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9965283" y="2847119"/>
            <a:ext cx="2273188" cy="4393747"/>
            <a:chOff x="0" y="0"/>
            <a:chExt cx="650719" cy="125774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0719" cy="1257747"/>
            </a:xfrm>
            <a:custGeom>
              <a:avLst/>
              <a:gdLst/>
              <a:ahLst/>
              <a:cxnLst/>
              <a:rect r="r" b="b" t="t" l="l"/>
              <a:pathLst>
                <a:path h="1257747" w="650719">
                  <a:moveTo>
                    <a:pt x="78332" y="0"/>
                  </a:moveTo>
                  <a:lnTo>
                    <a:pt x="572387" y="0"/>
                  </a:lnTo>
                  <a:cubicBezTo>
                    <a:pt x="615649" y="0"/>
                    <a:pt x="650719" y="35071"/>
                    <a:pt x="650719" y="78332"/>
                  </a:cubicBezTo>
                  <a:lnTo>
                    <a:pt x="650719" y="1179415"/>
                  </a:lnTo>
                  <a:cubicBezTo>
                    <a:pt x="650719" y="1222676"/>
                    <a:pt x="615649" y="1257747"/>
                    <a:pt x="572387" y="1257747"/>
                  </a:cubicBezTo>
                  <a:lnTo>
                    <a:pt x="78332" y="1257747"/>
                  </a:lnTo>
                  <a:cubicBezTo>
                    <a:pt x="35071" y="1257747"/>
                    <a:pt x="0" y="1222676"/>
                    <a:pt x="0" y="1179415"/>
                  </a:cubicBezTo>
                  <a:lnTo>
                    <a:pt x="0" y="78332"/>
                  </a:lnTo>
                  <a:cubicBezTo>
                    <a:pt x="0" y="35071"/>
                    <a:pt x="35071" y="0"/>
                    <a:pt x="78332" y="0"/>
                  </a:cubicBezTo>
                  <a:close/>
                </a:path>
              </a:pathLst>
            </a:custGeom>
            <a:solidFill>
              <a:srgbClr val="D3B68F">
                <a:alpha val="45882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50719" cy="1276797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747490" y="2881062"/>
            <a:ext cx="2273188" cy="4359804"/>
            <a:chOff x="0" y="0"/>
            <a:chExt cx="650719" cy="12480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0719" cy="1248031"/>
            </a:xfrm>
            <a:custGeom>
              <a:avLst/>
              <a:gdLst/>
              <a:ahLst/>
              <a:cxnLst/>
              <a:rect r="r" b="b" t="t" l="l"/>
              <a:pathLst>
                <a:path h="1248031" w="650719">
                  <a:moveTo>
                    <a:pt x="78332" y="0"/>
                  </a:moveTo>
                  <a:lnTo>
                    <a:pt x="572387" y="0"/>
                  </a:lnTo>
                  <a:cubicBezTo>
                    <a:pt x="615649" y="0"/>
                    <a:pt x="650719" y="35071"/>
                    <a:pt x="650719" y="78332"/>
                  </a:cubicBezTo>
                  <a:lnTo>
                    <a:pt x="650719" y="1169698"/>
                  </a:lnTo>
                  <a:cubicBezTo>
                    <a:pt x="650719" y="1212960"/>
                    <a:pt x="615649" y="1248031"/>
                    <a:pt x="572387" y="1248031"/>
                  </a:cubicBezTo>
                  <a:lnTo>
                    <a:pt x="78332" y="1248031"/>
                  </a:lnTo>
                  <a:cubicBezTo>
                    <a:pt x="35071" y="1248031"/>
                    <a:pt x="0" y="1212960"/>
                    <a:pt x="0" y="1169698"/>
                  </a:cubicBezTo>
                  <a:lnTo>
                    <a:pt x="0" y="78332"/>
                  </a:lnTo>
                  <a:cubicBezTo>
                    <a:pt x="0" y="35071"/>
                    <a:pt x="35071" y="0"/>
                    <a:pt x="78332" y="0"/>
                  </a:cubicBezTo>
                  <a:close/>
                </a:path>
              </a:pathLst>
            </a:custGeom>
            <a:solidFill>
              <a:srgbClr val="D3B68F">
                <a:alpha val="4588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50719" cy="1267081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62683" y="7447454"/>
            <a:ext cx="2075788" cy="145903"/>
            <a:chOff x="0" y="0"/>
            <a:chExt cx="594212" cy="417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94212" cy="41766"/>
            </a:xfrm>
            <a:custGeom>
              <a:avLst/>
              <a:gdLst/>
              <a:ahLst/>
              <a:cxnLst/>
              <a:rect r="r" b="b" t="t" l="l"/>
              <a:pathLst>
                <a:path h="41766" w="594212">
                  <a:moveTo>
                    <a:pt x="20883" y="0"/>
                  </a:moveTo>
                  <a:lnTo>
                    <a:pt x="573329" y="0"/>
                  </a:lnTo>
                  <a:cubicBezTo>
                    <a:pt x="584862" y="0"/>
                    <a:pt x="594212" y="9350"/>
                    <a:pt x="594212" y="20883"/>
                  </a:cubicBezTo>
                  <a:lnTo>
                    <a:pt x="594212" y="20883"/>
                  </a:lnTo>
                  <a:cubicBezTo>
                    <a:pt x="594212" y="32416"/>
                    <a:pt x="584862" y="41766"/>
                    <a:pt x="573329" y="41766"/>
                  </a:cubicBezTo>
                  <a:lnTo>
                    <a:pt x="20883" y="41766"/>
                  </a:lnTo>
                  <a:cubicBezTo>
                    <a:pt x="9350" y="41766"/>
                    <a:pt x="0" y="32416"/>
                    <a:pt x="0" y="20883"/>
                  </a:cubicBezTo>
                  <a:lnTo>
                    <a:pt x="0" y="20883"/>
                  </a:lnTo>
                  <a:cubicBezTo>
                    <a:pt x="0" y="9350"/>
                    <a:pt x="9350" y="0"/>
                    <a:pt x="20883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594212" cy="89391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796840" y="7447454"/>
            <a:ext cx="2174488" cy="145903"/>
            <a:chOff x="0" y="0"/>
            <a:chExt cx="622465" cy="4176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2465" cy="41766"/>
            </a:xfrm>
            <a:custGeom>
              <a:avLst/>
              <a:gdLst/>
              <a:ahLst/>
              <a:cxnLst/>
              <a:rect r="r" b="b" t="t" l="l"/>
              <a:pathLst>
                <a:path h="41766" w="622465">
                  <a:moveTo>
                    <a:pt x="20883" y="0"/>
                  </a:moveTo>
                  <a:lnTo>
                    <a:pt x="601583" y="0"/>
                  </a:lnTo>
                  <a:cubicBezTo>
                    <a:pt x="607121" y="0"/>
                    <a:pt x="612433" y="2200"/>
                    <a:pt x="616349" y="6116"/>
                  </a:cubicBezTo>
                  <a:cubicBezTo>
                    <a:pt x="620265" y="10033"/>
                    <a:pt x="622465" y="15344"/>
                    <a:pt x="622465" y="20883"/>
                  </a:cubicBezTo>
                  <a:lnTo>
                    <a:pt x="622465" y="20883"/>
                  </a:lnTo>
                  <a:cubicBezTo>
                    <a:pt x="622465" y="32416"/>
                    <a:pt x="613116" y="41766"/>
                    <a:pt x="601583" y="41766"/>
                  </a:cubicBezTo>
                  <a:lnTo>
                    <a:pt x="20883" y="41766"/>
                  </a:lnTo>
                  <a:cubicBezTo>
                    <a:pt x="9350" y="41766"/>
                    <a:pt x="0" y="32416"/>
                    <a:pt x="0" y="20883"/>
                  </a:cubicBezTo>
                  <a:lnTo>
                    <a:pt x="0" y="20883"/>
                  </a:lnTo>
                  <a:cubicBezTo>
                    <a:pt x="0" y="9350"/>
                    <a:pt x="9350" y="0"/>
                    <a:pt x="20883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622465" cy="89391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667606" y="7447454"/>
            <a:ext cx="2075788" cy="145903"/>
            <a:chOff x="0" y="0"/>
            <a:chExt cx="594212" cy="4176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94212" cy="41766"/>
            </a:xfrm>
            <a:custGeom>
              <a:avLst/>
              <a:gdLst/>
              <a:ahLst/>
              <a:cxnLst/>
              <a:rect r="r" b="b" t="t" l="l"/>
              <a:pathLst>
                <a:path h="41766" w="594212">
                  <a:moveTo>
                    <a:pt x="20883" y="0"/>
                  </a:moveTo>
                  <a:lnTo>
                    <a:pt x="573329" y="0"/>
                  </a:lnTo>
                  <a:cubicBezTo>
                    <a:pt x="584862" y="0"/>
                    <a:pt x="594212" y="9350"/>
                    <a:pt x="594212" y="20883"/>
                  </a:cubicBezTo>
                  <a:lnTo>
                    <a:pt x="594212" y="20883"/>
                  </a:lnTo>
                  <a:cubicBezTo>
                    <a:pt x="594212" y="32416"/>
                    <a:pt x="584862" y="41766"/>
                    <a:pt x="573329" y="41766"/>
                  </a:cubicBezTo>
                  <a:lnTo>
                    <a:pt x="20883" y="41766"/>
                  </a:lnTo>
                  <a:cubicBezTo>
                    <a:pt x="9350" y="41766"/>
                    <a:pt x="0" y="32416"/>
                    <a:pt x="0" y="20883"/>
                  </a:cubicBezTo>
                  <a:lnTo>
                    <a:pt x="0" y="20883"/>
                  </a:lnTo>
                  <a:cubicBezTo>
                    <a:pt x="0" y="9350"/>
                    <a:pt x="9350" y="0"/>
                    <a:pt x="20883" y="0"/>
                  </a:cubicBezTo>
                  <a:close/>
                </a:path>
              </a:pathLst>
            </a:custGeom>
            <a:solidFill>
              <a:srgbClr val="7B624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94212" cy="89391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5690962" y="3003484"/>
            <a:ext cx="2273188" cy="4359804"/>
            <a:chOff x="0" y="0"/>
            <a:chExt cx="650719" cy="12480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50719" cy="1248031"/>
            </a:xfrm>
            <a:custGeom>
              <a:avLst/>
              <a:gdLst/>
              <a:ahLst/>
              <a:cxnLst/>
              <a:rect r="r" b="b" t="t" l="l"/>
              <a:pathLst>
                <a:path h="1248031" w="650719">
                  <a:moveTo>
                    <a:pt x="78332" y="0"/>
                  </a:moveTo>
                  <a:lnTo>
                    <a:pt x="572387" y="0"/>
                  </a:lnTo>
                  <a:cubicBezTo>
                    <a:pt x="615649" y="0"/>
                    <a:pt x="650719" y="35071"/>
                    <a:pt x="650719" y="78332"/>
                  </a:cubicBezTo>
                  <a:lnTo>
                    <a:pt x="650719" y="1169698"/>
                  </a:lnTo>
                  <a:cubicBezTo>
                    <a:pt x="650719" y="1212960"/>
                    <a:pt x="615649" y="1248031"/>
                    <a:pt x="572387" y="1248031"/>
                  </a:cubicBezTo>
                  <a:lnTo>
                    <a:pt x="78332" y="1248031"/>
                  </a:lnTo>
                  <a:cubicBezTo>
                    <a:pt x="35071" y="1248031"/>
                    <a:pt x="0" y="1212960"/>
                    <a:pt x="0" y="1169698"/>
                  </a:cubicBezTo>
                  <a:lnTo>
                    <a:pt x="0" y="78332"/>
                  </a:lnTo>
                  <a:cubicBezTo>
                    <a:pt x="0" y="35071"/>
                    <a:pt x="35071" y="0"/>
                    <a:pt x="78332" y="0"/>
                  </a:cubicBezTo>
                  <a:close/>
                </a:path>
              </a:pathLst>
            </a:custGeom>
            <a:solidFill>
              <a:srgbClr val="D3B68F">
                <a:alpha val="4588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650719" cy="1267081"/>
            </a:xfrm>
            <a:prstGeom prst="rect">
              <a:avLst/>
            </a:prstGeom>
          </p:spPr>
          <p:txBody>
            <a:bodyPr anchor="ctr" rtlCol="false" tIns="58184" lIns="58184" bIns="58184" rIns="58184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9965283" y="1980315"/>
            <a:ext cx="2273188" cy="29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b="true" sz="1980">
                <a:solidFill>
                  <a:srgbClr val="7B624F"/>
                </a:solidFill>
                <a:latin typeface="Mina Bold"/>
                <a:ea typeface="Mina Bold"/>
                <a:cs typeface="Mina Bold"/>
                <a:sym typeface="Mina Bold"/>
              </a:rPr>
              <a:t>Before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697956" y="1997287"/>
            <a:ext cx="2273188" cy="29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b="true" sz="1980">
                <a:solidFill>
                  <a:srgbClr val="7B624F"/>
                </a:solidFill>
                <a:latin typeface="Mina Bold"/>
                <a:ea typeface="Mina Bold"/>
                <a:cs typeface="Mina Bold"/>
                <a:sym typeface="Mina Bold"/>
              </a:rPr>
              <a:t>During 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469839" y="2014258"/>
            <a:ext cx="2273188" cy="29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b="true" sz="1980">
                <a:solidFill>
                  <a:srgbClr val="7B624F"/>
                </a:solidFill>
                <a:latin typeface="Mina Bold"/>
                <a:ea typeface="Mina Bold"/>
                <a:cs typeface="Mina Bold"/>
                <a:sym typeface="Mina Bold"/>
              </a:rPr>
              <a:t>After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082345" y="3338797"/>
            <a:ext cx="2048257" cy="36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Informal skill</a:t>
            </a:r>
          </a:p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Middlemen dependent</a:t>
            </a:r>
          </a:p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Low confidence</a:t>
            </a:r>
          </a:p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Less financial knowledge</a:t>
            </a:r>
          </a:p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Work seen as hobby</a:t>
            </a:r>
          </a:p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No savings or financial planning</a:t>
            </a:r>
          </a:p>
          <a:p>
            <a:pPr algn="l">
              <a:lnSpc>
                <a:spcPts val="2269"/>
              </a:lnSpc>
            </a:pPr>
          </a:p>
        </p:txBody>
      </p:sp>
      <p:sp>
        <p:nvSpPr>
          <p:cNvPr name="TextBox 88" id="88"/>
          <p:cNvSpPr txBox="true"/>
          <p:nvPr/>
        </p:nvSpPr>
        <p:spPr>
          <a:xfrm rot="0">
            <a:off x="12761255" y="3025275"/>
            <a:ext cx="2210073" cy="36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9"/>
              </a:lnSpc>
              <a:spcBef>
                <a:spcPct val="0"/>
              </a:spcBef>
            </a:pP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Skill upgradation &amp; quality training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Access to raw materials &amp; tools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Clear product standards &amp; timelines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Fair pricing structure introduced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5533322" y="3199403"/>
            <a:ext cx="2210073" cy="3679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869" indent="-196934" lvl="1">
              <a:lnSpc>
                <a:spcPts val="2269"/>
              </a:lnSpc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Stable monthly income (₹8,500–₹9,000)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18–22 working days per month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Direct payments with transparency</a:t>
            </a:r>
          </a:p>
          <a:p>
            <a:pPr algn="l" marL="393869" indent="-196934" lvl="1">
              <a:lnSpc>
                <a:spcPts val="2269"/>
              </a:lnSpc>
              <a:spcBef>
                <a:spcPct val="0"/>
              </a:spcBef>
              <a:buFont typeface="Arial"/>
              <a:buChar char="•"/>
            </a:pPr>
            <a:r>
              <a:rPr lang="en-US" sz="1824" strike="noStrike" u="none">
                <a:solidFill>
                  <a:srgbClr val="7B624F"/>
                </a:solidFill>
                <a:latin typeface="Montserrat"/>
                <a:ea typeface="Montserrat"/>
                <a:cs typeface="Montserrat"/>
                <a:sym typeface="Montserrat"/>
              </a:rPr>
              <a:t>Ability to price work independently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640492" y="7889920"/>
            <a:ext cx="10487184" cy="1519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200% income growth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100% women paid directly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0 middlemen involvement</a:t>
            </a:r>
          </a:p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b="true" sz="2465">
                <a:solidFill>
                  <a:srgbClr val="000000"/>
                </a:solidFill>
                <a:latin typeface="Mina Bold"/>
                <a:ea typeface="Mina Bold"/>
                <a:cs typeface="Mina Bold"/>
                <a:sym typeface="Mina Bold"/>
              </a:rPr>
              <a:t>100% skill certification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1352857" y="7776968"/>
            <a:ext cx="5352644" cy="1632699"/>
            <a:chOff x="0" y="0"/>
            <a:chExt cx="1409750" cy="4300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09750" cy="430011"/>
            </a:xfrm>
            <a:custGeom>
              <a:avLst/>
              <a:gdLst/>
              <a:ahLst/>
              <a:cxnLst/>
              <a:rect r="r" b="b" t="t" l="l"/>
              <a:pathLst>
                <a:path h="430011" w="1409750">
                  <a:moveTo>
                    <a:pt x="24588" y="0"/>
                  </a:moveTo>
                  <a:lnTo>
                    <a:pt x="1385161" y="0"/>
                  </a:lnTo>
                  <a:cubicBezTo>
                    <a:pt x="1391683" y="0"/>
                    <a:pt x="1397937" y="2591"/>
                    <a:pt x="1402548" y="7202"/>
                  </a:cubicBezTo>
                  <a:cubicBezTo>
                    <a:pt x="1407159" y="11813"/>
                    <a:pt x="1409750" y="18067"/>
                    <a:pt x="1409750" y="24588"/>
                  </a:cubicBezTo>
                  <a:lnTo>
                    <a:pt x="1409750" y="405423"/>
                  </a:lnTo>
                  <a:cubicBezTo>
                    <a:pt x="1409750" y="419003"/>
                    <a:pt x="1398741" y="430011"/>
                    <a:pt x="1385161" y="430011"/>
                  </a:cubicBezTo>
                  <a:lnTo>
                    <a:pt x="24588" y="430011"/>
                  </a:lnTo>
                  <a:cubicBezTo>
                    <a:pt x="18067" y="430011"/>
                    <a:pt x="11813" y="427421"/>
                    <a:pt x="7202" y="422810"/>
                  </a:cubicBezTo>
                  <a:cubicBezTo>
                    <a:pt x="2591" y="418198"/>
                    <a:pt x="0" y="411944"/>
                    <a:pt x="0" y="405423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B59D8B">
                <a:alpha val="48627"/>
              </a:srgbClr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409750" cy="439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7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2662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08905" y="3357330"/>
            <a:ext cx="5428995" cy="2673861"/>
          </a:xfrm>
          <a:custGeom>
            <a:avLst/>
            <a:gdLst/>
            <a:ahLst/>
            <a:cxnLst/>
            <a:rect r="r" b="b" t="t" l="l"/>
            <a:pathLst>
              <a:path h="2673861" w="5428995">
                <a:moveTo>
                  <a:pt x="0" y="0"/>
                </a:moveTo>
                <a:lnTo>
                  <a:pt x="5428994" y="0"/>
                </a:lnTo>
                <a:lnTo>
                  <a:pt x="5428994" y="2673861"/>
                </a:lnTo>
                <a:lnTo>
                  <a:pt x="0" y="2673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7158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8905" y="6352443"/>
            <a:ext cx="5432792" cy="2642692"/>
          </a:xfrm>
          <a:custGeom>
            <a:avLst/>
            <a:gdLst/>
            <a:ahLst/>
            <a:cxnLst/>
            <a:rect r="r" b="b" t="t" l="l"/>
            <a:pathLst>
              <a:path h="2642692" w="5432792">
                <a:moveTo>
                  <a:pt x="0" y="0"/>
                </a:moveTo>
                <a:lnTo>
                  <a:pt x="5432792" y="0"/>
                </a:lnTo>
                <a:lnTo>
                  <a:pt x="5432792" y="2642692"/>
                </a:lnTo>
                <a:lnTo>
                  <a:pt x="0" y="2642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0897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50726" y="1760430"/>
            <a:ext cx="4429188" cy="30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1945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</a:rPr>
              <a:t>SURVEY FORM LINK: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762587" y="6031191"/>
            <a:ext cx="5381924" cy="2545321"/>
          </a:xfrm>
          <a:custGeom>
            <a:avLst/>
            <a:gdLst/>
            <a:ahLst/>
            <a:cxnLst/>
            <a:rect r="r" b="b" t="t" l="l"/>
            <a:pathLst>
              <a:path h="2545321" w="5381924">
                <a:moveTo>
                  <a:pt x="0" y="0"/>
                </a:moveTo>
                <a:lnTo>
                  <a:pt x="5381923" y="0"/>
                </a:lnTo>
                <a:lnTo>
                  <a:pt x="5381923" y="2545322"/>
                </a:lnTo>
                <a:lnTo>
                  <a:pt x="0" y="25453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866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762587" y="2627540"/>
            <a:ext cx="6015714" cy="2613799"/>
          </a:xfrm>
          <a:custGeom>
            <a:avLst/>
            <a:gdLst/>
            <a:ahLst/>
            <a:cxnLst/>
            <a:rect r="r" b="b" t="t" l="l"/>
            <a:pathLst>
              <a:path h="2613799" w="6015714">
                <a:moveTo>
                  <a:pt x="0" y="0"/>
                </a:moveTo>
                <a:lnTo>
                  <a:pt x="6015714" y="0"/>
                </a:lnTo>
                <a:lnTo>
                  <a:pt x="6015714" y="2613799"/>
                </a:lnTo>
                <a:lnTo>
                  <a:pt x="0" y="26137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8" t="0" r="-7403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594757" y="1897298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9" tooltip="https://indjst.org/articles/banana-peel-and-potato-as-a-biodegradable-plastic%20%20https:/www.sciencedirect.com/science/article/pii/S2666893923000877%20https:/www.sciencedirect.com/science/article/pii/S2949750725000422%20https:/www.mdpi.com/2073-4360/13/15/2532%20https:/www.mdpi.com/2813-0391/3/4/37%20https:/ajbs.scione.com/cms/fulltext.php?id=1160%20https://www.scribd.com/document/420810906/Bioplastic-docx%20https://www.ijirset.com/upload/2020/july/141_PRODUCTION_NC.PDF%20https://share.google/fKnPHKXQkVJHH39Fv%20https://www.vegetosindia.org/article/development-of-food-carrying-bio-plastic-film-from-banana-peels-starch-incorporated-with-sugarcane-bagasse-cellulose"/>
              </a:rPr>
              <a:t>https://indjst.org/articles/banana-peel-and-potato-as-a-biodegradable-plastic</a:t>
            </a: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0" tooltip="https://indjst.org/articles/banana-peel-and-potato-as-a-biodegradable-plastic%20%20https:/www.sciencedirect.com/science/article/pii/S2666893923000877%20https:/www.sciencedirect.com/science/article/pii/S2949750725000422%20https:/www.mdpi.com/2073-4360/13/15/2532%20https:/www.mdpi.com/2813-0391/3/4/37%20https:/ajbs.scione.com/cms/fulltext.php?id=1160%20https://www.scribd.com/document/420810906/Bioplastic-docx%20https://www.ijirset.com/upload/2020/july/141_PRODUCTION_NC.PDF%20https://share.google/fKnPHKXQkVJHH39Fv%20https://www.vegetosindia.org/article/development-of-food-carrying-bio-plastic-film-from-banana-peels-starch-incorporated-with-sugarcane-bagasse-cellulose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94757" y="2702315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1" tooltip="https://www.ijirset.com/upload/2020/july/141_PRODUCTION_NC.PDF"/>
              </a:rPr>
              <a:t>https://www.ijirset.com/upload/2020/july/141_PRODUCTION_NC.PDF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94757" y="3520628"/>
            <a:ext cx="6334576" cy="33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2" tooltip="https://share.google/fKnPHKXQkVJHH39Fv"/>
              </a:rPr>
              <a:t>https://share.google/fKnPHKXQkVJHH39Fv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594757" y="4004194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3" tooltip="https://ajbs.scione.com/cms/fulltext.php?id=1160"/>
              </a:rPr>
              <a:t>https://ajbs.scione.com/cms/fulltext.php?id=1160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94757" y="4716359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4" tooltip="https://www.scribd.com/document/420810906/Bioplastic-docx"/>
              </a:rPr>
              <a:t>https://www.scribd.com/document/420810906/Bioplastic-docx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4757" y="5495199"/>
            <a:ext cx="6334576" cy="1302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5" tooltip="https://www.vegetosindia.org/article/development-of-food-carrying-bio-plastic-film-from-banana-peels-starch-incorporated-with-sugarcane-bagasse-cellulose"/>
              </a:rPr>
              <a:t>https://www.vegetosindia.org/article/development-of-food-carrying-bio-plastic-film-from-banana-peels-starch-incorporated-with-sugarcane-bagasse-cellulose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94757" y="6900848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6" tooltip="https://www.sciencedirect.com/science/article/pii/S2666893923000877"/>
              </a:rPr>
              <a:t>https://www.sciencedirect.com/science/article/pii/S2666893923000877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94757" y="7710184"/>
            <a:ext cx="6334576" cy="65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7" tooltip="https://www.sciencedirect.com/science/article/pii/S2949750725000422"/>
              </a:rPr>
              <a:t>https://www.sciencedirect.com/science/article/pii/S2949750725000422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94757" y="8519520"/>
            <a:ext cx="6334576" cy="33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612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sng">
                <a:solidFill>
                  <a:srgbClr val="000000"/>
                </a:solidFill>
                <a:latin typeface="Mina"/>
                <a:ea typeface="Mina"/>
                <a:cs typeface="Mina"/>
                <a:sym typeface="Mina"/>
                <a:hlinkClick r:id="rId18" tooltip="https://www.mdpi.com/2073-4360/13/15/2532"/>
              </a:rPr>
              <a:t>https://www.mdpi.com/2813-0391/3/4/37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DAHTpsbIgNE</dc:identifier>
  <dcterms:modified xsi:type="dcterms:W3CDTF">2011-08-01T06:04:30Z</dcterms:modified>
  <cp:revision>1</cp:revision>
  <dc:title>Rang_sih</dc:title>
</cp:coreProperties>
</file>